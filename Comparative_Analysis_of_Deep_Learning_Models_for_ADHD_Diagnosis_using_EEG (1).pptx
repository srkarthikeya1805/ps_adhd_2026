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73" r:id="rId12"/>
    <p:sldId id="274" r:id="rId13"/>
    <p:sldId id="275" r:id="rId14"/>
    <p:sldId id="276" r:id="rId15"/>
    <p:sldId id="266" r:id="rId16"/>
    <p:sldId id="267" r:id="rId17"/>
    <p:sldId id="268" r:id="rId18"/>
    <p:sldId id="269" r:id="rId19"/>
    <p:sldId id="270" r:id="rId20"/>
    <p:sldId id="271"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5" d="100"/>
          <a:sy n="105" d="100"/>
        </p:scale>
        <p:origin x="7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6298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Schizophrenia diagnosis faces significant hurdles because current methods are too subjective. We're talking about a chronic brain disorder that affects millions, yet its diagnosis often relies on traditional, visual EEG assessments. This approach is time-consuming and prone to inconsistencies, leading to delays and misdiagnoses. We need objective, accurate tools to ensure timely and effective management for patients. This is where advanced EEG analysis comes in, offering a path to more reliable diagnostics.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the need for objective diagnostics, we developed a novel approach using Mutation-boosted Optimization and Hybrid Deep Learning. Our MAO preprocessing dynamically refines EEG signals, significantly improving quality and reducing noise. Then, a hybrid CNN-LSTM architecture extracts both spatial and temporal patterns from the data. We also integrate entropy-related features, capturing the intricate complexity of EEG for robust classification. This comprehensive pipeline moves us closer to a more precise diagnostic tool, as you'll see in our performance results.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well does this advanced architecture perform? Our MAO-CNN-LSTM pipeline achieves state-of-the-art diagnostic performance, with an exceptional accuracy of 98.2% and precision of 98.5%. This isn't just a marginal improvement; it's a significant leap forward. The MAO algorithm's ability to enhance the Signal-to-Noise Ratio and reduce artifacts is crucial here, ensuring the data we analyze is reliable. These results demonstrate the pipeline's potential for real clinical impact. Now, let's look at how students can further advance this critical research.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students have a clear path to build on this foundational work and transition our model into a clinical standard. They can focus on optimizing the pipeline for real-time processing, making it suitable for portable devices. Another key area is Explainable AI, where visualizing attention weights can identify specific brain regions linked to schizophrenia. We also see great potential in multimodal fusion, integrating EEG with other neuroimaging or genetic data for a more robust diagnostic profile. These strategic enhancements will accelerate the model's journey from research to practical application.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jpe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0" y="1438573"/>
            <a:ext cx="9144000" cy="1575197"/>
          </a:xfrm>
          <a:prstGeom prst="rect">
            <a:avLst/>
          </a:prstGeom>
          <a:noFill/>
          <a:ln/>
        </p:spPr>
        <p:txBody>
          <a:bodyPr wrap="square" lIns="425196" tIns="0" rIns="425196" bIns="0" rtlCol="0" anchor="t">
            <a:spAutoFit/>
          </a:bodyPr>
          <a:lstStyle/>
          <a:p>
            <a:pPr marL="0" indent="0" algn="ctr">
              <a:buNone/>
            </a:pPr>
            <a:r>
              <a:rPr lang="en-US" sz="3300" b="1" dirty="0">
                <a:solidFill>
                  <a:srgbClr val="F8F8F8"/>
                </a:solidFill>
                <a:latin typeface="Inter Bold" pitchFamily="34" charset="0"/>
                <a:ea typeface="Inter Bold" pitchFamily="34" charset="-122"/>
                <a:cs typeface="Inter Bold" pitchFamily="34" charset="-120"/>
              </a:rPr>
              <a:t>Comparative Analysis of Deep Learning Models for ADHD Diagnosis using EEG</a:t>
            </a:r>
            <a:endParaRPr lang="en-US" sz="3300" dirty="0"/>
          </a:p>
        </p:txBody>
      </p:sp>
      <p:sp>
        <p:nvSpPr>
          <p:cNvPr id="4" name="Text 1"/>
          <p:cNvSpPr/>
          <p:nvPr/>
        </p:nvSpPr>
        <p:spPr>
          <a:xfrm>
            <a:off x="445870" y="3156645"/>
            <a:ext cx="8252259" cy="262533"/>
          </a:xfrm>
          <a:prstGeom prst="rect">
            <a:avLst/>
          </a:prstGeom>
          <a:noFill/>
          <a:ln/>
        </p:spPr>
        <p:txBody>
          <a:bodyPr wrap="square" lIns="425196" tIns="0" rIns="425196" bIns="0" rtlCol="0" anchor="t">
            <a:spAutoFit/>
          </a:bodyPr>
          <a:lstStyle/>
          <a:p>
            <a:pPr marL="0" indent="0" algn="ctr">
              <a:buNone/>
            </a:pPr>
            <a:r>
              <a:rPr lang="en-US" sz="1700" dirty="0">
                <a:solidFill>
                  <a:srgbClr val="3498DB"/>
                </a:solidFill>
                <a:latin typeface="Inter" pitchFamily="34" charset="0"/>
                <a:ea typeface="Inter" pitchFamily="34" charset="-122"/>
                <a:cs typeface="Inter" pitchFamily="34" charset="-120"/>
              </a:rPr>
              <a:t>A Review of EEG-Transformer, LSTM, and Hybrid CNN-LSTM Approaches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128588" y="298847"/>
            <a:ext cx="9144000" cy="307777"/>
          </a:xfrm>
          <a:prstGeom prst="rect">
            <a:avLst/>
          </a:prstGeom>
          <a:noFill/>
          <a:ln/>
        </p:spPr>
        <p:txBody>
          <a:bodyPr wrap="square" lIns="0" tIns="0" rIns="0" bIns="0" rtlCol="0" anchor="t">
            <a:spAutoFit/>
          </a:bodyPr>
          <a:lstStyle/>
          <a:p>
            <a:pPr marL="0" indent="0" algn="ctr">
              <a:buNone/>
            </a:pPr>
            <a:r>
              <a:rPr lang="en-US" sz="2000" b="1" dirty="0">
                <a:solidFill>
                  <a:srgbClr val="2C3E50"/>
                </a:solidFill>
                <a:latin typeface="Times New Roman" panose="02020603050405020304" pitchFamily="18" charset="0"/>
                <a:ea typeface="Inter Bold" pitchFamily="34" charset="-122"/>
                <a:cs typeface="Times New Roman" panose="02020603050405020304" pitchFamily="18" charset="0"/>
              </a:rPr>
              <a:t>The Challenge of ADHD Diagnosis</a:t>
            </a:r>
            <a:endParaRPr lang="en-US" sz="2000" dirty="0">
              <a:latin typeface="Times New Roman" panose="02020603050405020304" pitchFamily="18" charset="0"/>
              <a:cs typeface="Times New Roman" panose="02020603050405020304" pitchFamily="18" charset="0"/>
            </a:endParaRPr>
          </a:p>
        </p:txBody>
      </p:sp>
      <p:sp>
        <p:nvSpPr>
          <p:cNvPr id="4" name="Text 1"/>
          <p:cNvSpPr/>
          <p:nvPr/>
        </p:nvSpPr>
        <p:spPr>
          <a:xfrm>
            <a:off x="585788" y="905470"/>
            <a:ext cx="4114800" cy="215444"/>
          </a:xfrm>
          <a:prstGeom prst="rect">
            <a:avLst/>
          </a:prstGeom>
          <a:noFill/>
          <a:ln/>
        </p:spPr>
        <p:txBody>
          <a:bodyPr wrap="square" lIns="0" tIns="0" rIns="0" bIns="0" rtlCol="0" anchor="t">
            <a:spAutoFit/>
          </a:bodyPr>
          <a:lstStyle/>
          <a:p>
            <a:pPr marL="0" indent="0" algn="just">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Current Problem: Subjective Diagnosis</a:t>
            </a:r>
            <a:endParaRPr lang="en-US" sz="1400" dirty="0">
              <a:latin typeface="Times New Roman" panose="02020603050405020304" pitchFamily="18" charset="0"/>
              <a:cs typeface="Times New Roman" panose="02020603050405020304" pitchFamily="18" charset="0"/>
            </a:endParaRPr>
          </a:p>
        </p:txBody>
      </p:sp>
      <p:sp>
        <p:nvSpPr>
          <p:cNvPr id="5" name="Text 2"/>
          <p:cNvSpPr/>
          <p:nvPr/>
        </p:nvSpPr>
        <p:spPr>
          <a:xfrm>
            <a:off x="457200" y="1178209"/>
            <a:ext cx="4114800" cy="1903663"/>
          </a:xfrm>
          <a:prstGeom prst="rect">
            <a:avLst/>
          </a:prstGeom>
          <a:noFill/>
          <a:ln/>
        </p:spPr>
        <p:txBody>
          <a:bodyPr wrap="square" lIns="0" tIns="0" rIns="0" bIns="0" rtlCol="0" anchor="t">
            <a:spAutoFit/>
          </a:bodyPr>
          <a:lstStyle/>
          <a:p>
            <a:pPr marL="0" indent="0" algn="just">
              <a:lnSpc>
                <a:spcPct val="128000"/>
              </a:lnSpc>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Traditional ADHD diagnosis heavily relies on subjective assessments such as the DSM-5 Questionnaire, clinical interviews, and behavioral observations. These methods are inherently time-consuming, dependent on trained specialists, and prone to inconsistencies, often leading to delayed diagnoses and misdiagnosis. This subjectivity poses a significant barrier to effective early intervention.</a:t>
            </a:r>
            <a:endParaRPr lang="en-US" sz="1400" dirty="0">
              <a:latin typeface="Times New Roman" panose="02020603050405020304" pitchFamily="18" charset="0"/>
              <a:cs typeface="Times New Roman" panose="02020603050405020304" pitchFamily="18" charset="0"/>
            </a:endParaRPr>
          </a:p>
        </p:txBody>
      </p:sp>
      <p:sp>
        <p:nvSpPr>
          <p:cNvPr id="6" name="Text 3"/>
          <p:cNvSpPr/>
          <p:nvPr/>
        </p:nvSpPr>
        <p:spPr>
          <a:xfrm>
            <a:off x="5157788" y="905470"/>
            <a:ext cx="4114800" cy="215444"/>
          </a:xfrm>
          <a:prstGeom prst="rect">
            <a:avLst/>
          </a:prstGeom>
          <a:noFill/>
          <a:ln/>
        </p:spPr>
        <p:txBody>
          <a:bodyPr wrap="square" lIns="0" tIns="0" rIns="0" bIns="0" rtlCol="0" anchor="t">
            <a:spAutoFit/>
          </a:bodyPr>
          <a:lstStyle/>
          <a:p>
            <a:pPr marL="0" indent="0" algn="just">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The Need for Objective Methods</a:t>
            </a:r>
            <a:endParaRPr lang="en-US" sz="1400" dirty="0">
              <a:latin typeface="Times New Roman" panose="02020603050405020304" pitchFamily="18" charset="0"/>
              <a:cs typeface="Times New Roman" panose="02020603050405020304" pitchFamily="18" charset="0"/>
            </a:endParaRPr>
          </a:p>
        </p:txBody>
      </p:sp>
      <p:sp>
        <p:nvSpPr>
          <p:cNvPr id="7" name="Text 4"/>
          <p:cNvSpPr/>
          <p:nvPr/>
        </p:nvSpPr>
        <p:spPr>
          <a:xfrm>
            <a:off x="5029200" y="1178209"/>
            <a:ext cx="4114800" cy="2179443"/>
          </a:xfrm>
          <a:prstGeom prst="rect">
            <a:avLst/>
          </a:prstGeom>
          <a:noFill/>
          <a:ln/>
        </p:spPr>
        <p:txBody>
          <a:bodyPr wrap="square" lIns="0" tIns="0" rIns="0" bIns="0" rtlCol="0" anchor="t">
            <a:spAutoFit/>
          </a:bodyPr>
          <a:lstStyle/>
          <a:p>
            <a:pPr marL="0" indent="0" algn="just">
              <a:lnSpc>
                <a:spcPct val="128000"/>
              </a:lnSpc>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The limitations of current diagnostic practices underscore a critical need for objective and automated methods. Research is increasingly focused on leveraging quantifiable biological markers, such as Electroencephalogram (EEG) brain signals, combined with advanced deep learning techniques, to provide a more accurate, efficient, and objective diagnostic pathway for ADHD.</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0" y="357188"/>
            <a:ext cx="9144000" cy="307777"/>
          </a:xfrm>
          <a:prstGeom prst="rect">
            <a:avLst/>
          </a:prstGeom>
          <a:noFill/>
          <a:ln/>
        </p:spPr>
        <p:txBody>
          <a:bodyPr wrap="square" lIns="0" tIns="0" rIns="0" bIns="0" rtlCol="0" anchor="t">
            <a:spAutoFit/>
          </a:bodyPr>
          <a:lstStyle/>
          <a:p>
            <a:pPr marL="0" indent="0" algn="ctr">
              <a:buNone/>
            </a:pPr>
            <a:r>
              <a:rPr lang="en-US" sz="2000" b="1" dirty="0">
                <a:solidFill>
                  <a:srgbClr val="2C3E50"/>
                </a:solidFill>
                <a:latin typeface="Times New Roman" panose="02020603050405020304" pitchFamily="18" charset="0"/>
                <a:ea typeface="Inter Bold" pitchFamily="34" charset="-122"/>
                <a:cs typeface="Times New Roman" panose="02020603050405020304" pitchFamily="18" charset="0"/>
              </a:rPr>
              <a:t>Paper 1: EEG-Transformer Model</a:t>
            </a:r>
            <a:endParaRPr lang="en-US" sz="2000" dirty="0">
              <a:latin typeface="Times New Roman" panose="02020603050405020304" pitchFamily="18" charset="0"/>
              <a:cs typeface="Times New Roman" panose="02020603050405020304" pitchFamily="18" charset="0"/>
            </a:endParaRPr>
          </a:p>
        </p:txBody>
      </p:sp>
      <p:sp>
        <p:nvSpPr>
          <p:cNvPr id="4" name="Text 1"/>
          <p:cNvSpPr/>
          <p:nvPr/>
        </p:nvSpPr>
        <p:spPr>
          <a:xfrm>
            <a:off x="357188" y="725773"/>
            <a:ext cx="4107656" cy="215444"/>
          </a:xfrm>
          <a:prstGeom prst="rect">
            <a:avLst/>
          </a:prstGeom>
          <a:noFill/>
          <a:ln/>
        </p:spPr>
        <p:txBody>
          <a:bodyPr wrap="square" lIns="0" tIns="0" rIns="0" bIns="0" rtlCol="0" anchor="t">
            <a:spAutoFit/>
          </a:bodyPr>
          <a:lstStyle/>
          <a:p>
            <a:pPr marL="0" indent="0" algn="l">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Problem Addressed</a:t>
            </a:r>
            <a:endParaRPr lang="en-US" sz="1400" dirty="0">
              <a:latin typeface="Times New Roman" panose="02020603050405020304" pitchFamily="18" charset="0"/>
              <a:cs typeface="Times New Roman" panose="02020603050405020304" pitchFamily="18" charset="0"/>
            </a:endParaRPr>
          </a:p>
        </p:txBody>
      </p:sp>
      <p:sp>
        <p:nvSpPr>
          <p:cNvPr id="5" name="Text 2"/>
          <p:cNvSpPr/>
          <p:nvPr/>
        </p:nvSpPr>
        <p:spPr>
          <a:xfrm>
            <a:off x="357188" y="1069777"/>
            <a:ext cx="4107656" cy="1270156"/>
          </a:xfrm>
          <a:prstGeom prst="rect">
            <a:avLst/>
          </a:prstGeom>
          <a:noFill/>
          <a:ln/>
        </p:spPr>
        <p:txBody>
          <a:bodyPr wrap="square" lIns="0" tIns="0" rIns="0" bIns="0" rtlCol="0" anchor="t">
            <a:spAutoFit/>
          </a:bodyPr>
          <a:lstStyle/>
          <a:p>
            <a:pPr marL="0" indent="0" algn="just">
              <a:lnSpc>
                <a:spcPct val="120000"/>
              </a:lnSpc>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The paper addresses the subjectivity and inefficiencies of current ADHD diagnostic methods (DSM-5, clinical interviews) by proposing an objective, automated approach using EEG signals and deep learning, specifically a Transformer model.</a:t>
            </a:r>
            <a:endParaRPr lang="en-US" sz="1400" dirty="0">
              <a:latin typeface="Times New Roman" panose="02020603050405020304" pitchFamily="18" charset="0"/>
              <a:cs typeface="Times New Roman" panose="02020603050405020304" pitchFamily="18" charset="0"/>
            </a:endParaRPr>
          </a:p>
        </p:txBody>
      </p:sp>
      <p:sp>
        <p:nvSpPr>
          <p:cNvPr id="6" name="Text 3"/>
          <p:cNvSpPr/>
          <p:nvPr/>
        </p:nvSpPr>
        <p:spPr>
          <a:xfrm>
            <a:off x="4679156" y="712944"/>
            <a:ext cx="4107656" cy="215444"/>
          </a:xfrm>
          <a:prstGeom prst="rect">
            <a:avLst/>
          </a:prstGeom>
          <a:noFill/>
          <a:ln/>
        </p:spPr>
        <p:txBody>
          <a:bodyPr wrap="square" lIns="0" tIns="0" rIns="0" bIns="0" rtlCol="0" anchor="t">
            <a:spAutoFit/>
          </a:bodyPr>
          <a:lstStyle/>
          <a:p>
            <a:pPr marL="0" indent="0" algn="l">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Relevance</a:t>
            </a:r>
            <a:endParaRPr lang="en-US" sz="1400" dirty="0">
              <a:latin typeface="Times New Roman" panose="02020603050405020304" pitchFamily="18" charset="0"/>
              <a:cs typeface="Times New Roman" panose="02020603050405020304" pitchFamily="18" charset="0"/>
            </a:endParaRPr>
          </a:p>
        </p:txBody>
      </p:sp>
      <p:sp>
        <p:nvSpPr>
          <p:cNvPr id="7" name="Text 4"/>
          <p:cNvSpPr/>
          <p:nvPr/>
        </p:nvSpPr>
        <p:spPr>
          <a:xfrm>
            <a:off x="4679156" y="1069777"/>
            <a:ext cx="4107656" cy="1270156"/>
          </a:xfrm>
          <a:prstGeom prst="rect">
            <a:avLst/>
          </a:prstGeom>
          <a:noFill/>
          <a:ln/>
        </p:spPr>
        <p:txBody>
          <a:bodyPr wrap="square" lIns="0" tIns="0" rIns="0" bIns="0" rtlCol="0" anchor="t">
            <a:spAutoFit/>
          </a:bodyPr>
          <a:lstStyle/>
          <a:p>
            <a:pPr marL="0" indent="0" algn="just">
              <a:lnSpc>
                <a:spcPct val="120000"/>
              </a:lnSpc>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ADHD is a prevalent neurodevelopmental disorder impacting attention, memory, and learning, with significant global prevalence and persistence into adulthood. Early and objective diagnosis is crucial for timely intervention and improved outcomes.</a:t>
            </a:r>
            <a:endParaRPr lang="en-US" sz="1400" dirty="0">
              <a:latin typeface="Times New Roman" panose="02020603050405020304" pitchFamily="18" charset="0"/>
              <a:cs typeface="Times New Roman" panose="02020603050405020304" pitchFamily="18" charset="0"/>
            </a:endParaRPr>
          </a:p>
        </p:txBody>
      </p:sp>
      <p:sp>
        <p:nvSpPr>
          <p:cNvPr id="8" name="Text 5"/>
          <p:cNvSpPr/>
          <p:nvPr/>
        </p:nvSpPr>
        <p:spPr>
          <a:xfrm>
            <a:off x="285750" y="2865686"/>
            <a:ext cx="4107656" cy="215444"/>
          </a:xfrm>
          <a:prstGeom prst="rect">
            <a:avLst/>
          </a:prstGeom>
          <a:noFill/>
          <a:ln/>
        </p:spPr>
        <p:txBody>
          <a:bodyPr wrap="square" lIns="0" tIns="0" rIns="0" bIns="0" rtlCol="0" anchor="t">
            <a:spAutoFit/>
          </a:bodyPr>
          <a:lstStyle/>
          <a:p>
            <a:pPr marL="0" indent="0" algn="l">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Dataset</a:t>
            </a:r>
            <a:endParaRPr lang="en-US" sz="1400" dirty="0">
              <a:latin typeface="Times New Roman" panose="02020603050405020304" pitchFamily="18" charset="0"/>
              <a:cs typeface="Times New Roman" panose="02020603050405020304" pitchFamily="18" charset="0"/>
            </a:endParaRPr>
          </a:p>
        </p:txBody>
      </p:sp>
      <p:sp>
        <p:nvSpPr>
          <p:cNvPr id="9" name="Text 6"/>
          <p:cNvSpPr/>
          <p:nvPr/>
        </p:nvSpPr>
        <p:spPr>
          <a:xfrm>
            <a:off x="285750" y="3249349"/>
            <a:ext cx="4107656" cy="1270156"/>
          </a:xfrm>
          <a:prstGeom prst="rect">
            <a:avLst/>
          </a:prstGeom>
          <a:noFill/>
          <a:ln/>
        </p:spPr>
        <p:txBody>
          <a:bodyPr wrap="square" lIns="0" tIns="0" rIns="0" bIns="0" rtlCol="0" anchor="t">
            <a:spAutoFit/>
          </a:bodyPr>
          <a:lstStyle/>
          <a:p>
            <a:pPr marL="0" indent="0" algn="just">
              <a:lnSpc>
                <a:spcPct val="120000"/>
              </a:lnSpc>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Public dataset from Technical University of Dresden, Germany. Comprises 144 children (48 ADHD, 52 ADD, 44 Healthy Controls) with 56 EEG channels, 256 Hz sampling rate, and 1.5s trial length. Preprocessed using Independent Component Analysis (ICA).</a:t>
            </a:r>
            <a:endParaRPr lang="en-US" sz="1400" dirty="0">
              <a:latin typeface="Times New Roman" panose="02020603050405020304" pitchFamily="18" charset="0"/>
              <a:cs typeface="Times New Roman" panose="02020603050405020304" pitchFamily="18" charset="0"/>
            </a:endParaRPr>
          </a:p>
        </p:txBody>
      </p:sp>
      <p:sp>
        <p:nvSpPr>
          <p:cNvPr id="10" name="Text 7"/>
          <p:cNvSpPr/>
          <p:nvPr/>
        </p:nvSpPr>
        <p:spPr>
          <a:xfrm>
            <a:off x="4679156" y="2750344"/>
            <a:ext cx="4107656" cy="215444"/>
          </a:xfrm>
          <a:prstGeom prst="rect">
            <a:avLst/>
          </a:prstGeom>
          <a:noFill/>
          <a:ln/>
        </p:spPr>
        <p:txBody>
          <a:bodyPr wrap="square" lIns="0" tIns="0" rIns="0" bIns="0" rtlCol="0" anchor="t">
            <a:spAutoFit/>
          </a:bodyPr>
          <a:lstStyle/>
          <a:p>
            <a:pPr marL="0" indent="0" algn="l">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Methodology &amp; Key Results</a:t>
            </a:r>
            <a:endParaRPr lang="en-US" sz="1400" dirty="0">
              <a:latin typeface="Times New Roman" panose="02020603050405020304" pitchFamily="18" charset="0"/>
              <a:cs typeface="Times New Roman" panose="02020603050405020304" pitchFamily="18" charset="0"/>
            </a:endParaRPr>
          </a:p>
        </p:txBody>
      </p:sp>
      <p:sp>
        <p:nvSpPr>
          <p:cNvPr id="11" name="Text 8"/>
          <p:cNvSpPr/>
          <p:nvPr/>
        </p:nvSpPr>
        <p:spPr>
          <a:xfrm>
            <a:off x="4750596" y="3240045"/>
            <a:ext cx="4107656" cy="1270156"/>
          </a:xfrm>
          <a:prstGeom prst="rect">
            <a:avLst/>
          </a:prstGeom>
          <a:noFill/>
          <a:ln/>
        </p:spPr>
        <p:txBody>
          <a:bodyPr wrap="square" lIns="0" tIns="0" rIns="0" bIns="0" rtlCol="0" anchor="t">
            <a:spAutoFit/>
          </a:bodyPr>
          <a:lstStyle/>
          <a:p>
            <a:pPr marL="0" indent="0" algn="just">
              <a:lnSpc>
                <a:spcPct val="120000"/>
              </a:lnSpc>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Proposed an EEG-Transformer model utilizing an attention mechanism to learn relationships across all EEG channels simultaneously. Achieved an accuracy of 95.85% and an AUC of 0.9926, outperforming traditional CNN-based models.</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0" y="357188"/>
            <a:ext cx="9144000" cy="307777"/>
          </a:xfrm>
          <a:prstGeom prst="rect">
            <a:avLst/>
          </a:prstGeom>
          <a:noFill/>
          <a:ln/>
        </p:spPr>
        <p:txBody>
          <a:bodyPr wrap="square" lIns="0" tIns="0" rIns="0" bIns="0" rtlCol="0" anchor="t">
            <a:spAutoFit/>
          </a:bodyPr>
          <a:lstStyle/>
          <a:p>
            <a:pPr marL="0" indent="0" algn="ctr">
              <a:buNone/>
            </a:pPr>
            <a:r>
              <a:rPr lang="en-US" sz="2000" b="1" dirty="0">
                <a:solidFill>
                  <a:srgbClr val="2C3E50"/>
                </a:solidFill>
                <a:latin typeface="Times New Roman" panose="02020603050405020304" pitchFamily="18" charset="0"/>
                <a:ea typeface="Inter Bold" pitchFamily="34" charset="-122"/>
                <a:cs typeface="Times New Roman" panose="02020603050405020304" pitchFamily="18" charset="0"/>
              </a:rPr>
              <a:t>Paper 2: EEG-based LSTM Networks</a:t>
            </a:r>
            <a:endParaRPr lang="en-US" sz="2000" dirty="0">
              <a:latin typeface="Times New Roman" panose="02020603050405020304" pitchFamily="18" charset="0"/>
              <a:cs typeface="Times New Roman" panose="02020603050405020304" pitchFamily="18" charset="0"/>
            </a:endParaRPr>
          </a:p>
        </p:txBody>
      </p:sp>
      <p:sp>
        <p:nvSpPr>
          <p:cNvPr id="4" name="Text 1"/>
          <p:cNvSpPr/>
          <p:nvPr/>
        </p:nvSpPr>
        <p:spPr>
          <a:xfrm>
            <a:off x="357188" y="834033"/>
            <a:ext cx="4107656" cy="215444"/>
          </a:xfrm>
          <a:prstGeom prst="rect">
            <a:avLst/>
          </a:prstGeom>
          <a:noFill/>
          <a:ln/>
        </p:spPr>
        <p:txBody>
          <a:bodyPr wrap="square" lIns="0" tIns="0" rIns="0" bIns="0" rtlCol="0" anchor="t">
            <a:spAutoFit/>
          </a:bodyPr>
          <a:lstStyle/>
          <a:p>
            <a:pPr marL="0" indent="0" algn="l">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Problem Addressed</a:t>
            </a:r>
            <a:endParaRPr lang="en-US" sz="1400" dirty="0">
              <a:latin typeface="Times New Roman" panose="02020603050405020304" pitchFamily="18" charset="0"/>
              <a:cs typeface="Times New Roman" panose="02020603050405020304" pitchFamily="18" charset="0"/>
            </a:endParaRPr>
          </a:p>
        </p:txBody>
      </p:sp>
      <p:sp>
        <p:nvSpPr>
          <p:cNvPr id="5" name="Text 2"/>
          <p:cNvSpPr/>
          <p:nvPr/>
        </p:nvSpPr>
        <p:spPr>
          <a:xfrm>
            <a:off x="321468" y="1241738"/>
            <a:ext cx="4107656" cy="1270156"/>
          </a:xfrm>
          <a:prstGeom prst="rect">
            <a:avLst/>
          </a:prstGeom>
          <a:noFill/>
          <a:ln/>
        </p:spPr>
        <p:txBody>
          <a:bodyPr wrap="square" lIns="0" tIns="0" rIns="0" bIns="0" rtlCol="0" anchor="t">
            <a:spAutoFit/>
          </a:bodyPr>
          <a:lstStyle/>
          <a:p>
            <a:pPr marL="0" indent="0" algn="just">
              <a:lnSpc>
                <a:spcPct val="120000"/>
              </a:lnSpc>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The study aims to address the subjectivity of current ADHD diagnostic approaches (DSM-5, behavioral observations) by investigating whether EEG-based Long Short-Term Memory (LSTM) networks can objectively discriminate between ADHD and neurotypical children.</a:t>
            </a:r>
            <a:endParaRPr lang="en-US" sz="1400" dirty="0">
              <a:latin typeface="Times New Roman" panose="02020603050405020304" pitchFamily="18" charset="0"/>
              <a:cs typeface="Times New Roman" panose="02020603050405020304" pitchFamily="18" charset="0"/>
            </a:endParaRPr>
          </a:p>
        </p:txBody>
      </p:sp>
      <p:sp>
        <p:nvSpPr>
          <p:cNvPr id="6" name="Text 3"/>
          <p:cNvSpPr/>
          <p:nvPr/>
        </p:nvSpPr>
        <p:spPr>
          <a:xfrm>
            <a:off x="4679156" y="834033"/>
            <a:ext cx="4107656" cy="215444"/>
          </a:xfrm>
          <a:prstGeom prst="rect">
            <a:avLst/>
          </a:prstGeom>
          <a:noFill/>
          <a:ln/>
        </p:spPr>
        <p:txBody>
          <a:bodyPr wrap="square" lIns="0" tIns="0" rIns="0" bIns="0" rtlCol="0" anchor="t">
            <a:spAutoFit/>
          </a:bodyPr>
          <a:lstStyle/>
          <a:p>
            <a:pPr marL="0" indent="0" algn="l">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Relevance</a:t>
            </a:r>
            <a:endParaRPr lang="en-US" sz="1400" dirty="0">
              <a:latin typeface="Times New Roman" panose="02020603050405020304" pitchFamily="18" charset="0"/>
              <a:cs typeface="Times New Roman" panose="02020603050405020304" pitchFamily="18" charset="0"/>
            </a:endParaRPr>
          </a:p>
        </p:txBody>
      </p:sp>
      <p:sp>
        <p:nvSpPr>
          <p:cNvPr id="7" name="Text 4"/>
          <p:cNvSpPr/>
          <p:nvPr/>
        </p:nvSpPr>
        <p:spPr>
          <a:xfrm>
            <a:off x="4679156" y="1224386"/>
            <a:ext cx="4107656" cy="1270156"/>
          </a:xfrm>
          <a:prstGeom prst="rect">
            <a:avLst/>
          </a:prstGeom>
          <a:noFill/>
          <a:ln/>
        </p:spPr>
        <p:txBody>
          <a:bodyPr wrap="square" lIns="0" tIns="0" rIns="0" bIns="0" rtlCol="0" anchor="t">
            <a:spAutoFit/>
          </a:bodyPr>
          <a:lstStyle/>
          <a:p>
            <a:pPr marL="0" indent="0" algn="just">
              <a:lnSpc>
                <a:spcPct val="120000"/>
              </a:lnSpc>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ADHD is a pervasive disorder with a 5-7% prevalence. Current biomarkers like the theta/beta ratio are controversial. Objective, EEG-based tools are essential for improving diagnostic accuracy and facilitating timely interventions.</a:t>
            </a:r>
            <a:endParaRPr lang="en-US" sz="1400" dirty="0">
              <a:latin typeface="Times New Roman" panose="02020603050405020304" pitchFamily="18" charset="0"/>
              <a:cs typeface="Times New Roman" panose="02020603050405020304" pitchFamily="18" charset="0"/>
            </a:endParaRPr>
          </a:p>
        </p:txBody>
      </p:sp>
      <p:sp>
        <p:nvSpPr>
          <p:cNvPr id="8" name="Text 5"/>
          <p:cNvSpPr/>
          <p:nvPr/>
        </p:nvSpPr>
        <p:spPr>
          <a:xfrm>
            <a:off x="321468" y="2840711"/>
            <a:ext cx="4107656" cy="215444"/>
          </a:xfrm>
          <a:prstGeom prst="rect">
            <a:avLst/>
          </a:prstGeom>
          <a:noFill/>
          <a:ln/>
        </p:spPr>
        <p:txBody>
          <a:bodyPr wrap="square" lIns="0" tIns="0" rIns="0" bIns="0" rtlCol="0" anchor="t">
            <a:spAutoFit/>
          </a:bodyPr>
          <a:lstStyle/>
          <a:p>
            <a:pPr marL="0" indent="0" algn="l">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Dataset</a:t>
            </a:r>
            <a:endParaRPr lang="en-US" sz="1400" dirty="0">
              <a:latin typeface="Times New Roman" panose="02020603050405020304" pitchFamily="18" charset="0"/>
              <a:cs typeface="Times New Roman" panose="02020603050405020304" pitchFamily="18" charset="0"/>
            </a:endParaRPr>
          </a:p>
        </p:txBody>
      </p:sp>
      <p:sp>
        <p:nvSpPr>
          <p:cNvPr id="9" name="Text 6"/>
          <p:cNvSpPr/>
          <p:nvPr/>
        </p:nvSpPr>
        <p:spPr>
          <a:xfrm>
            <a:off x="321468" y="3248416"/>
            <a:ext cx="4107656" cy="1270156"/>
          </a:xfrm>
          <a:prstGeom prst="rect">
            <a:avLst/>
          </a:prstGeom>
          <a:noFill/>
          <a:ln/>
        </p:spPr>
        <p:txBody>
          <a:bodyPr wrap="square" lIns="0" tIns="0" rIns="0" bIns="0" rtlCol="0" anchor="t">
            <a:spAutoFit/>
          </a:bodyPr>
          <a:lstStyle/>
          <a:p>
            <a:pPr marL="0" indent="0" algn="just">
              <a:lnSpc>
                <a:spcPct val="120000"/>
              </a:lnSpc>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Involved 60 children (30 ADHD, 30 Neurotypical) undergoing Continuous Performance Tests (CPT). EEG data segments included resting state, cognitive execution, and a fusion of both, recorded via a portable wireless device.</a:t>
            </a:r>
            <a:endParaRPr lang="en-US" sz="1400" dirty="0">
              <a:latin typeface="Times New Roman" panose="02020603050405020304" pitchFamily="18" charset="0"/>
              <a:cs typeface="Times New Roman" panose="02020603050405020304" pitchFamily="18" charset="0"/>
            </a:endParaRPr>
          </a:p>
        </p:txBody>
      </p:sp>
      <p:sp>
        <p:nvSpPr>
          <p:cNvPr id="10" name="Text 7"/>
          <p:cNvSpPr/>
          <p:nvPr/>
        </p:nvSpPr>
        <p:spPr>
          <a:xfrm>
            <a:off x="4714878" y="2746290"/>
            <a:ext cx="4107656" cy="215444"/>
          </a:xfrm>
          <a:prstGeom prst="rect">
            <a:avLst/>
          </a:prstGeom>
          <a:noFill/>
          <a:ln/>
        </p:spPr>
        <p:txBody>
          <a:bodyPr wrap="square" lIns="0" tIns="0" rIns="0" bIns="0" rtlCol="0" anchor="t">
            <a:spAutoFit/>
          </a:bodyPr>
          <a:lstStyle/>
          <a:p>
            <a:pPr marL="0" indent="0" algn="l">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Methodology &amp; Key Results</a:t>
            </a:r>
            <a:endParaRPr lang="en-US" sz="1400" dirty="0">
              <a:latin typeface="Times New Roman" panose="02020603050405020304" pitchFamily="18" charset="0"/>
              <a:cs typeface="Times New Roman" panose="02020603050405020304" pitchFamily="18" charset="0"/>
            </a:endParaRPr>
          </a:p>
        </p:txBody>
      </p:sp>
      <p:sp>
        <p:nvSpPr>
          <p:cNvPr id="11" name="Text 8"/>
          <p:cNvSpPr/>
          <p:nvPr/>
        </p:nvSpPr>
        <p:spPr>
          <a:xfrm>
            <a:off x="4714878" y="3178090"/>
            <a:ext cx="4107656" cy="1508105"/>
          </a:xfrm>
          <a:prstGeom prst="rect">
            <a:avLst/>
          </a:prstGeom>
          <a:noFill/>
          <a:ln/>
        </p:spPr>
        <p:txBody>
          <a:bodyPr wrap="square" lIns="0" tIns="0" rIns="0" bIns="0" rtlCol="0" anchor="t">
            <a:spAutoFit/>
          </a:bodyPr>
          <a:lstStyle/>
          <a:p>
            <a:r>
              <a:rPr lang="en-IN" sz="1400" b="1" dirty="0">
                <a:solidFill>
                  <a:srgbClr val="34495E"/>
                </a:solidFill>
                <a:latin typeface="Times New Roman" panose="02020603050405020304" pitchFamily="18" charset="0"/>
                <a:ea typeface="Inter" pitchFamily="34" charset="-122"/>
                <a:cs typeface="Times New Roman" panose="02020603050405020304" pitchFamily="18" charset="0"/>
              </a:rPr>
              <a:t>Proposed Solution:</a:t>
            </a:r>
          </a:p>
          <a:p>
            <a:endParaRPr lang="en-IN" sz="1400" b="1" dirty="0">
              <a:solidFill>
                <a:srgbClr val="34495E"/>
              </a:solidFill>
              <a:latin typeface="Times New Roman" panose="02020603050405020304" pitchFamily="18" charset="0"/>
              <a:ea typeface="Inter" pitchFamily="34" charset="-122"/>
              <a:cs typeface="Times New Roman" panose="02020603050405020304" pitchFamily="18" charset="0"/>
            </a:endParaRPr>
          </a:p>
          <a:p>
            <a:pPr marL="285750" indent="-285750">
              <a:buFont typeface="Arial" panose="020B0604020202020204" pitchFamily="34" charset="0"/>
              <a:buChar char="•"/>
            </a:pPr>
            <a:r>
              <a:rPr lang="en-IN" sz="1400" dirty="0">
                <a:solidFill>
                  <a:srgbClr val="34495E"/>
                </a:solidFill>
                <a:latin typeface="Times New Roman" panose="02020603050405020304" pitchFamily="18" charset="0"/>
                <a:ea typeface="Inter" pitchFamily="34" charset="-122"/>
                <a:cs typeface="Times New Roman" panose="02020603050405020304" pitchFamily="18" charset="0"/>
              </a:rPr>
              <a:t>Use EEG brain signals as objective biomarkers. </a:t>
            </a:r>
          </a:p>
          <a:p>
            <a:pPr marL="285750" indent="-285750">
              <a:buFont typeface="Arial" panose="020B0604020202020204" pitchFamily="34" charset="0"/>
              <a:buChar char="•"/>
            </a:pPr>
            <a:r>
              <a:rPr lang="en-IN" sz="1400" dirty="0">
                <a:solidFill>
                  <a:srgbClr val="34495E"/>
                </a:solidFill>
                <a:latin typeface="Times New Roman" panose="02020603050405020304" pitchFamily="18" charset="0"/>
                <a:ea typeface="Inter" pitchFamily="34" charset="-122"/>
                <a:cs typeface="Times New Roman" panose="02020603050405020304" pitchFamily="18" charset="0"/>
              </a:rPr>
              <a:t>Apply LSTM networks to learn temporal brain activity patterns. </a:t>
            </a:r>
          </a:p>
          <a:p>
            <a:pPr marL="285750" indent="-285750">
              <a:buFont typeface="Arial" panose="020B0604020202020204" pitchFamily="34" charset="0"/>
              <a:buChar char="•"/>
            </a:pPr>
            <a:r>
              <a:rPr lang="en-IN" sz="1400" dirty="0">
                <a:solidFill>
                  <a:srgbClr val="34495E"/>
                </a:solidFill>
                <a:latin typeface="Times New Roman" panose="02020603050405020304" pitchFamily="18" charset="0"/>
                <a:ea typeface="Inter" pitchFamily="34" charset="-122"/>
                <a:cs typeface="Times New Roman" panose="02020603050405020304" pitchFamily="18" charset="0"/>
              </a:rPr>
              <a:t>Automatically classify ADHD and neurotypical children</a:t>
            </a:r>
            <a:r>
              <a:rPr lang="en-IN" sz="140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0" y="357188"/>
            <a:ext cx="9144000" cy="307777"/>
          </a:xfrm>
          <a:prstGeom prst="rect">
            <a:avLst/>
          </a:prstGeom>
          <a:noFill/>
          <a:ln/>
        </p:spPr>
        <p:txBody>
          <a:bodyPr wrap="square" lIns="0" tIns="0" rIns="0" bIns="0" rtlCol="0" anchor="t">
            <a:spAutoFit/>
          </a:bodyPr>
          <a:lstStyle/>
          <a:p>
            <a:pPr marL="0" indent="0" algn="ctr">
              <a:buNone/>
            </a:pPr>
            <a:r>
              <a:rPr lang="en-US" sz="2000" b="1" dirty="0">
                <a:solidFill>
                  <a:srgbClr val="2C3E50"/>
                </a:solidFill>
                <a:latin typeface="Times New Roman" panose="02020603050405020304" pitchFamily="18" charset="0"/>
                <a:ea typeface="Inter Bold" pitchFamily="34" charset="-122"/>
                <a:cs typeface="Times New Roman" panose="02020603050405020304" pitchFamily="18" charset="0"/>
              </a:rPr>
              <a:t>Paper 3: Hybrid CNN-LSTM Model</a:t>
            </a:r>
            <a:endParaRPr lang="en-US" sz="2000" dirty="0">
              <a:latin typeface="Times New Roman" panose="02020603050405020304" pitchFamily="18" charset="0"/>
              <a:cs typeface="Times New Roman" panose="02020603050405020304" pitchFamily="18" charset="0"/>
            </a:endParaRPr>
          </a:p>
        </p:txBody>
      </p:sp>
      <p:sp>
        <p:nvSpPr>
          <p:cNvPr id="4" name="Text 1"/>
          <p:cNvSpPr/>
          <p:nvPr/>
        </p:nvSpPr>
        <p:spPr>
          <a:xfrm>
            <a:off x="357188" y="834033"/>
            <a:ext cx="4107656" cy="215444"/>
          </a:xfrm>
          <a:prstGeom prst="rect">
            <a:avLst/>
          </a:prstGeom>
          <a:noFill/>
          <a:ln/>
        </p:spPr>
        <p:txBody>
          <a:bodyPr wrap="square" lIns="0" tIns="0" rIns="0" bIns="0" rtlCol="0" anchor="t">
            <a:spAutoFit/>
          </a:bodyPr>
          <a:lstStyle/>
          <a:p>
            <a:pPr marL="0" indent="0" algn="just">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Problem &amp; Rationale</a:t>
            </a:r>
            <a:endParaRPr lang="en-US" sz="1400" dirty="0">
              <a:latin typeface="Times New Roman" panose="02020603050405020304" pitchFamily="18" charset="0"/>
              <a:cs typeface="Times New Roman" panose="02020603050405020304" pitchFamily="18" charset="0"/>
            </a:endParaRPr>
          </a:p>
        </p:txBody>
      </p:sp>
      <p:sp>
        <p:nvSpPr>
          <p:cNvPr id="5" name="Text 2"/>
          <p:cNvSpPr/>
          <p:nvPr/>
        </p:nvSpPr>
        <p:spPr>
          <a:xfrm>
            <a:off x="357188" y="1069777"/>
            <a:ext cx="4107656" cy="1270156"/>
          </a:xfrm>
          <a:prstGeom prst="rect">
            <a:avLst/>
          </a:prstGeom>
          <a:noFill/>
          <a:ln/>
        </p:spPr>
        <p:txBody>
          <a:bodyPr wrap="square" lIns="0" tIns="0" rIns="0" bIns="0" rtlCol="0" anchor="t">
            <a:spAutoFit/>
          </a:bodyPr>
          <a:lstStyle/>
          <a:p>
            <a:pPr marL="0" indent="0" algn="just">
              <a:lnSpc>
                <a:spcPct val="120000"/>
              </a:lnSpc>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Addresses the questionable reliability of traditional diagnostic tools. The authors argue that CNNs alone miss temporal dynamics, while LSTMs miss spatial patterns. A hybrid approach is proposed to capture both simultaneously.</a:t>
            </a:r>
            <a:endParaRPr lang="en-US" sz="1400" dirty="0">
              <a:latin typeface="Times New Roman" panose="02020603050405020304" pitchFamily="18" charset="0"/>
              <a:cs typeface="Times New Roman" panose="02020603050405020304" pitchFamily="18" charset="0"/>
            </a:endParaRPr>
          </a:p>
        </p:txBody>
      </p:sp>
      <p:sp>
        <p:nvSpPr>
          <p:cNvPr id="6" name="Text 3"/>
          <p:cNvSpPr/>
          <p:nvPr/>
        </p:nvSpPr>
        <p:spPr>
          <a:xfrm>
            <a:off x="4679156" y="834033"/>
            <a:ext cx="4107656" cy="215444"/>
          </a:xfrm>
          <a:prstGeom prst="rect">
            <a:avLst/>
          </a:prstGeom>
          <a:noFill/>
          <a:ln/>
        </p:spPr>
        <p:txBody>
          <a:bodyPr wrap="square" lIns="0" tIns="0" rIns="0" bIns="0" rtlCol="0" anchor="t">
            <a:spAutoFit/>
          </a:bodyPr>
          <a:lstStyle/>
          <a:p>
            <a:pPr marL="0" indent="0" algn="just">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Dual Datasets</a:t>
            </a:r>
            <a:endParaRPr lang="en-US" sz="1400" dirty="0">
              <a:latin typeface="Times New Roman" panose="02020603050405020304" pitchFamily="18" charset="0"/>
              <a:cs typeface="Times New Roman" panose="02020603050405020304" pitchFamily="18" charset="0"/>
            </a:endParaRPr>
          </a:p>
        </p:txBody>
      </p:sp>
      <p:sp>
        <p:nvSpPr>
          <p:cNvPr id="7" name="Text 4"/>
          <p:cNvSpPr/>
          <p:nvPr/>
        </p:nvSpPr>
        <p:spPr>
          <a:xfrm>
            <a:off x="4679156" y="1146761"/>
            <a:ext cx="4107656" cy="1011624"/>
          </a:xfrm>
          <a:prstGeom prst="rect">
            <a:avLst/>
          </a:prstGeom>
          <a:noFill/>
          <a:ln/>
        </p:spPr>
        <p:txBody>
          <a:bodyPr wrap="square" lIns="0" tIns="0" rIns="0" bIns="0" rtlCol="0" anchor="t">
            <a:spAutoFit/>
          </a:bodyPr>
          <a:lstStyle/>
          <a:p>
            <a:pPr marL="0" indent="0" algn="just">
              <a:lnSpc>
                <a:spcPct val="120000"/>
              </a:lnSpc>
              <a:buNone/>
            </a:pPr>
            <a:r>
              <a:rPr lang="en-US" sz="1400" b="1" dirty="0">
                <a:solidFill>
                  <a:srgbClr val="2C3E50"/>
                </a:solidFill>
                <a:latin typeface="Times New Roman" panose="02020603050405020304" pitchFamily="18" charset="0"/>
                <a:ea typeface="Inter Bold" pitchFamily="34" charset="-122"/>
                <a:cs typeface="Times New Roman" panose="02020603050405020304" pitchFamily="18" charset="0"/>
              </a:rPr>
              <a:t>ADHD Dataset:</a:t>
            </a: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 121 subjects (61 ADHD, 60 Control), ages 7-12, diagnosed via DSM-IV.
</a:t>
            </a:r>
            <a:r>
              <a:rPr lang="en-US" sz="1400" b="1" dirty="0">
                <a:solidFill>
                  <a:srgbClr val="2C3E50"/>
                </a:solidFill>
                <a:latin typeface="Times New Roman" panose="02020603050405020304" pitchFamily="18" charset="0"/>
                <a:ea typeface="Inter Bold" pitchFamily="34" charset="-122"/>
                <a:cs typeface="Times New Roman" panose="02020603050405020304" pitchFamily="18" charset="0"/>
              </a:rPr>
              <a:t>FOCUS Dataset:</a:t>
            </a: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 9 subjects playing an EMOTIV-based mental instruction game, providing 57,000 samples.</a:t>
            </a:r>
            <a:endParaRPr lang="en-US" sz="1400" dirty="0">
              <a:latin typeface="Times New Roman" panose="02020603050405020304" pitchFamily="18" charset="0"/>
              <a:cs typeface="Times New Roman" panose="02020603050405020304" pitchFamily="18" charset="0"/>
            </a:endParaRPr>
          </a:p>
        </p:txBody>
      </p:sp>
      <p:sp>
        <p:nvSpPr>
          <p:cNvPr id="8" name="Text 5"/>
          <p:cNvSpPr/>
          <p:nvPr/>
        </p:nvSpPr>
        <p:spPr>
          <a:xfrm>
            <a:off x="285750" y="2571750"/>
            <a:ext cx="4107656" cy="215444"/>
          </a:xfrm>
          <a:prstGeom prst="rect">
            <a:avLst/>
          </a:prstGeom>
          <a:noFill/>
          <a:ln/>
        </p:spPr>
        <p:txBody>
          <a:bodyPr wrap="square" lIns="0" tIns="0" rIns="0" bIns="0" rtlCol="0" anchor="t">
            <a:spAutoFit/>
          </a:bodyPr>
          <a:lstStyle/>
          <a:p>
            <a:pPr marL="0" indent="0" algn="just">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Hybrid Methodology</a:t>
            </a:r>
            <a:endParaRPr lang="en-US" sz="1400" dirty="0">
              <a:latin typeface="Times New Roman" panose="02020603050405020304" pitchFamily="18" charset="0"/>
              <a:cs typeface="Times New Roman" panose="02020603050405020304" pitchFamily="18" charset="0"/>
            </a:endParaRPr>
          </a:p>
        </p:txBody>
      </p:sp>
      <p:sp>
        <p:nvSpPr>
          <p:cNvPr id="9" name="Text 6"/>
          <p:cNvSpPr/>
          <p:nvPr/>
        </p:nvSpPr>
        <p:spPr>
          <a:xfrm>
            <a:off x="1463675" y="2905296"/>
            <a:ext cx="6216650" cy="1938992"/>
          </a:xfrm>
          <a:prstGeom prst="rect">
            <a:avLst/>
          </a:prstGeom>
          <a:noFill/>
          <a:ln/>
        </p:spPr>
        <p:txBody>
          <a:bodyPr wrap="square" lIns="0" tIns="0" rIns="0" bIns="0" rtlCol="0" anchor="t">
            <a:spAutoFit/>
          </a:bodyPr>
          <a:lstStyle/>
          <a:p>
            <a:r>
              <a:rPr lang="en-IN" sz="1400" b="1" dirty="0">
                <a:solidFill>
                  <a:srgbClr val="34495E"/>
                </a:solidFill>
                <a:latin typeface="Times New Roman" panose="02020603050405020304" pitchFamily="18" charset="0"/>
                <a:ea typeface="Inter" pitchFamily="34" charset="-122"/>
                <a:cs typeface="Times New Roman" panose="02020603050405020304" pitchFamily="18" charset="0"/>
              </a:rPr>
              <a:t>Proposed Solution</a:t>
            </a:r>
          </a:p>
          <a:p>
            <a:pPr marL="285750" indent="-285750">
              <a:buFont typeface="Arial" panose="020B0604020202020204" pitchFamily="34" charset="0"/>
              <a:buChar char="•"/>
            </a:pPr>
            <a:r>
              <a:rPr lang="en-IN" sz="1400" dirty="0">
                <a:solidFill>
                  <a:srgbClr val="34495E"/>
                </a:solidFill>
                <a:latin typeface="Times New Roman" panose="02020603050405020304" pitchFamily="18" charset="0"/>
                <a:ea typeface="Inter" pitchFamily="34" charset="-122"/>
                <a:cs typeface="Times New Roman" panose="02020603050405020304" pitchFamily="18" charset="0"/>
              </a:rPr>
              <a:t>Use EEG brain signals as objective biomarkers for ADHD diagnosis. </a:t>
            </a:r>
          </a:p>
          <a:p>
            <a:pPr marL="285750" indent="-285750">
              <a:buFont typeface="Arial" panose="020B0604020202020204" pitchFamily="34" charset="0"/>
              <a:buChar char="•"/>
            </a:pPr>
            <a:r>
              <a:rPr lang="en-IN" sz="1400" dirty="0">
                <a:solidFill>
                  <a:srgbClr val="34495E"/>
                </a:solidFill>
                <a:latin typeface="Times New Roman" panose="02020603050405020304" pitchFamily="18" charset="0"/>
                <a:ea typeface="Inter" pitchFamily="34" charset="-122"/>
                <a:cs typeface="Times New Roman" panose="02020603050405020304" pitchFamily="18" charset="0"/>
              </a:rPr>
              <a:t>Apply CNN layers to automatically learn spatial relationships between different EEG channels and brain regions. </a:t>
            </a:r>
          </a:p>
          <a:p>
            <a:pPr marL="285750" indent="-285750" algn="just">
              <a:buFont typeface="Arial" panose="020B0604020202020204" pitchFamily="34" charset="0"/>
              <a:buChar char="•"/>
            </a:pPr>
            <a:r>
              <a:rPr lang="en-IN" sz="1400" dirty="0">
                <a:solidFill>
                  <a:srgbClr val="34495E"/>
                </a:solidFill>
                <a:latin typeface="Times New Roman" panose="02020603050405020304" pitchFamily="18" charset="0"/>
                <a:ea typeface="Inter" pitchFamily="34" charset="-122"/>
                <a:cs typeface="Times New Roman" panose="02020603050405020304" pitchFamily="18" charset="0"/>
              </a:rPr>
              <a:t>Apply LSTM layers to learn temporal brain activity patterns and attention-state changes over time. </a:t>
            </a:r>
          </a:p>
          <a:p>
            <a:pPr marL="285750" indent="-285750">
              <a:buFont typeface="Arial" panose="020B0604020202020204" pitchFamily="34" charset="0"/>
              <a:buChar char="•"/>
            </a:pPr>
            <a:r>
              <a:rPr lang="en-IN" sz="1400" dirty="0">
                <a:solidFill>
                  <a:srgbClr val="34495E"/>
                </a:solidFill>
                <a:latin typeface="Times New Roman" panose="02020603050405020304" pitchFamily="18" charset="0"/>
                <a:ea typeface="Inter" pitchFamily="34" charset="-122"/>
                <a:cs typeface="Times New Roman" panose="02020603050405020304" pitchFamily="18" charset="0"/>
              </a:rPr>
              <a:t>Combine spatial and temporal EEG features into a unified representation. </a:t>
            </a:r>
          </a:p>
          <a:p>
            <a:pPr marL="285750" indent="-285750">
              <a:buFont typeface="Arial" panose="020B0604020202020204" pitchFamily="34" charset="0"/>
              <a:buChar char="•"/>
            </a:pPr>
            <a:r>
              <a:rPr lang="en-IN" sz="1400" dirty="0">
                <a:solidFill>
                  <a:srgbClr val="34495E"/>
                </a:solidFill>
                <a:latin typeface="Times New Roman" panose="02020603050405020304" pitchFamily="18" charset="0"/>
                <a:ea typeface="Inter" pitchFamily="34" charset="-122"/>
                <a:cs typeface="Times New Roman" panose="02020603050405020304" pitchFamily="18" charset="0"/>
              </a:rPr>
              <a:t>Automatically classify subjects as ADHD or Healthy Controls using a deep learning model.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0" y="357188"/>
            <a:ext cx="9144000" cy="307777"/>
          </a:xfrm>
          <a:prstGeom prst="rect">
            <a:avLst/>
          </a:prstGeom>
          <a:noFill/>
          <a:ln/>
        </p:spPr>
        <p:txBody>
          <a:bodyPr wrap="square" lIns="0" tIns="0" rIns="0" bIns="0" rtlCol="0" anchor="t">
            <a:spAutoFit/>
          </a:bodyPr>
          <a:lstStyle/>
          <a:p>
            <a:pPr marL="0" indent="0" algn="ctr">
              <a:buNone/>
            </a:pPr>
            <a:r>
              <a:rPr lang="en-US" sz="2000" b="1" dirty="0">
                <a:solidFill>
                  <a:srgbClr val="2C3E50"/>
                </a:solidFill>
                <a:latin typeface="Times New Roman" panose="02020603050405020304" pitchFamily="18" charset="0"/>
                <a:ea typeface="Inter Bold" pitchFamily="34" charset="-122"/>
                <a:cs typeface="Times New Roman" panose="02020603050405020304" pitchFamily="18" charset="0"/>
              </a:rPr>
              <a:t>Comparative Analysis: Methodologies</a:t>
            </a:r>
            <a:endParaRPr lang="en-US" sz="2000" dirty="0">
              <a:latin typeface="Times New Roman" panose="02020603050405020304" pitchFamily="18" charset="0"/>
              <a:cs typeface="Times New Roman" panose="02020603050405020304" pitchFamily="18" charset="0"/>
            </a:endParaRPr>
          </a:p>
        </p:txBody>
      </p:sp>
      <p:sp>
        <p:nvSpPr>
          <p:cNvPr id="4" name="Text 1"/>
          <p:cNvSpPr/>
          <p:nvPr/>
        </p:nvSpPr>
        <p:spPr>
          <a:xfrm>
            <a:off x="357188" y="1076920"/>
            <a:ext cx="2714625" cy="215444"/>
          </a:xfrm>
          <a:prstGeom prst="rect">
            <a:avLst/>
          </a:prstGeom>
          <a:noFill/>
          <a:ln/>
        </p:spPr>
        <p:txBody>
          <a:bodyPr wrap="square" lIns="0" tIns="0" rIns="0" bIns="0" rtlCol="0" anchor="t">
            <a:spAutoFit/>
          </a:bodyPr>
          <a:lstStyle/>
          <a:p>
            <a:pPr marL="0" indent="0" algn="l">
              <a:buNone/>
            </a:pPr>
            <a:r>
              <a:rPr lang="en-US" sz="1400" b="1" dirty="0">
                <a:solidFill>
                  <a:srgbClr val="2C3E50"/>
                </a:solidFill>
                <a:latin typeface="Times New Roman" panose="02020603050405020304" pitchFamily="18" charset="0"/>
                <a:ea typeface="Inter Bold" pitchFamily="34" charset="-122"/>
                <a:cs typeface="Times New Roman" panose="02020603050405020304" pitchFamily="18" charset="0"/>
              </a:rPr>
              <a:t>EEG-Transformer</a:t>
            </a:r>
            <a:endParaRPr lang="en-US" sz="1400" dirty="0">
              <a:latin typeface="Times New Roman" panose="02020603050405020304" pitchFamily="18" charset="0"/>
              <a:cs typeface="Times New Roman" panose="02020603050405020304" pitchFamily="18" charset="0"/>
            </a:endParaRPr>
          </a:p>
        </p:txBody>
      </p:sp>
      <p:sp>
        <p:nvSpPr>
          <p:cNvPr id="5" name="Text 2"/>
          <p:cNvSpPr/>
          <p:nvPr/>
        </p:nvSpPr>
        <p:spPr>
          <a:xfrm>
            <a:off x="357188" y="1380530"/>
            <a:ext cx="2714625" cy="215444"/>
          </a:xfrm>
          <a:prstGeom prst="rect">
            <a:avLst/>
          </a:prstGeom>
          <a:noFill/>
          <a:ln/>
        </p:spPr>
        <p:txBody>
          <a:bodyPr wrap="square" lIns="0" tIns="0" rIns="0" bIns="0" rtlCol="0" anchor="t">
            <a:spAutoFit/>
          </a:bodyPr>
          <a:lstStyle/>
          <a:p>
            <a:pPr marL="0" indent="0" algn="l">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Attention Mechanism</a:t>
            </a:r>
            <a:endParaRPr lang="en-US" sz="1400" dirty="0">
              <a:latin typeface="Times New Roman" panose="02020603050405020304" pitchFamily="18" charset="0"/>
              <a:cs typeface="Times New Roman" panose="02020603050405020304" pitchFamily="18" charset="0"/>
            </a:endParaRPr>
          </a:p>
        </p:txBody>
      </p:sp>
      <p:sp>
        <p:nvSpPr>
          <p:cNvPr id="6" name="Text 3"/>
          <p:cNvSpPr/>
          <p:nvPr/>
        </p:nvSpPr>
        <p:spPr>
          <a:xfrm>
            <a:off x="357188" y="1598414"/>
            <a:ext cx="2714625" cy="804451"/>
          </a:xfrm>
          <a:prstGeom prst="rect">
            <a:avLst/>
          </a:prstGeom>
          <a:noFill/>
          <a:ln/>
        </p:spPr>
        <p:txBody>
          <a:bodyPr wrap="square" lIns="0" tIns="0" rIns="0" bIns="0" rtlCol="0" anchor="t">
            <a:spAutoFit/>
          </a:bodyPr>
          <a:lstStyle/>
          <a:p>
            <a:pPr marL="0" indent="0" algn="just">
              <a:lnSpc>
                <a:spcPct val="128000"/>
              </a:lnSpc>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Utilizes self-attention to learn complex relationships between all EEG channels simultaneously.</a:t>
            </a:r>
            <a:endParaRPr lang="en-US" sz="1400" dirty="0">
              <a:latin typeface="Times New Roman" panose="02020603050405020304" pitchFamily="18" charset="0"/>
              <a:cs typeface="Times New Roman" panose="02020603050405020304" pitchFamily="18" charset="0"/>
            </a:endParaRPr>
          </a:p>
        </p:txBody>
      </p:sp>
      <p:sp>
        <p:nvSpPr>
          <p:cNvPr id="8" name="Text 4"/>
          <p:cNvSpPr/>
          <p:nvPr/>
        </p:nvSpPr>
        <p:spPr>
          <a:xfrm>
            <a:off x="495276" y="2405235"/>
            <a:ext cx="2362225" cy="430887"/>
          </a:xfrm>
          <a:prstGeom prst="rect">
            <a:avLst/>
          </a:prstGeom>
          <a:noFill/>
          <a:ln/>
        </p:spPr>
        <p:txBody>
          <a:bodyPr wrap="square" lIns="0" tIns="0" rIns="0" bIns="0" rtlCol="0" anchor="t">
            <a:spAutoFit/>
          </a:bodyPr>
          <a:lstStyle/>
          <a:p>
            <a:pPr marL="0" indent="0" algn="l">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Captures global spatial-temporal patterns</a:t>
            </a:r>
            <a:endParaRPr lang="en-US" sz="1400" dirty="0">
              <a:latin typeface="Times New Roman" panose="02020603050405020304" pitchFamily="18" charset="0"/>
              <a:cs typeface="Times New Roman" panose="02020603050405020304" pitchFamily="18" charset="0"/>
            </a:endParaRPr>
          </a:p>
        </p:txBody>
      </p:sp>
      <p:sp>
        <p:nvSpPr>
          <p:cNvPr id="10" name="Text 5"/>
          <p:cNvSpPr/>
          <p:nvPr/>
        </p:nvSpPr>
        <p:spPr>
          <a:xfrm>
            <a:off x="475222" y="2910223"/>
            <a:ext cx="1756190" cy="430887"/>
          </a:xfrm>
          <a:prstGeom prst="rect">
            <a:avLst/>
          </a:prstGeom>
          <a:noFill/>
          <a:ln/>
        </p:spPr>
        <p:txBody>
          <a:bodyPr wrap="square" lIns="0" tIns="0" rIns="0" bIns="0" rtlCol="0" anchor="t">
            <a:spAutoFit/>
          </a:bodyPr>
          <a:lstStyle/>
          <a:p>
            <a:pPr marL="0" indent="0" algn="l">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Overcomes CNN/LSTM local limitations</a:t>
            </a:r>
            <a:endParaRPr lang="en-US" sz="1400" dirty="0">
              <a:latin typeface="Times New Roman" panose="02020603050405020304" pitchFamily="18" charset="0"/>
              <a:cs typeface="Times New Roman" panose="02020603050405020304" pitchFamily="18" charset="0"/>
            </a:endParaRPr>
          </a:p>
        </p:txBody>
      </p:sp>
      <p:sp>
        <p:nvSpPr>
          <p:cNvPr id="12" name="Text 6"/>
          <p:cNvSpPr/>
          <p:nvPr/>
        </p:nvSpPr>
        <p:spPr>
          <a:xfrm>
            <a:off x="495276" y="3367442"/>
            <a:ext cx="1895717" cy="430887"/>
          </a:xfrm>
          <a:prstGeom prst="rect">
            <a:avLst/>
          </a:prstGeom>
          <a:noFill/>
          <a:ln/>
        </p:spPr>
        <p:txBody>
          <a:bodyPr wrap="square" lIns="0" tIns="0" rIns="0" bIns="0" rtlCol="0" anchor="t">
            <a:spAutoFit/>
          </a:bodyPr>
          <a:lstStyle/>
          <a:p>
            <a:pPr marL="0" indent="0" algn="l">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High-performance global feature extraction</a:t>
            </a:r>
            <a:endParaRPr lang="en-US" sz="1400" dirty="0">
              <a:latin typeface="Times New Roman" panose="02020603050405020304" pitchFamily="18" charset="0"/>
              <a:cs typeface="Times New Roman" panose="02020603050405020304" pitchFamily="18" charset="0"/>
            </a:endParaRPr>
          </a:p>
        </p:txBody>
      </p:sp>
      <p:sp>
        <p:nvSpPr>
          <p:cNvPr id="13" name="Text 7"/>
          <p:cNvSpPr/>
          <p:nvPr/>
        </p:nvSpPr>
        <p:spPr>
          <a:xfrm>
            <a:off x="3214688" y="1076920"/>
            <a:ext cx="2714625" cy="215444"/>
          </a:xfrm>
          <a:prstGeom prst="rect">
            <a:avLst/>
          </a:prstGeom>
          <a:noFill/>
          <a:ln/>
        </p:spPr>
        <p:txBody>
          <a:bodyPr wrap="square" lIns="0" tIns="0" rIns="0" bIns="0" rtlCol="0" anchor="t">
            <a:spAutoFit/>
          </a:bodyPr>
          <a:lstStyle/>
          <a:p>
            <a:pPr marL="0" indent="0" algn="l">
              <a:buNone/>
            </a:pPr>
            <a:r>
              <a:rPr lang="en-US" sz="1400" b="1" dirty="0">
                <a:solidFill>
                  <a:srgbClr val="2C3E50"/>
                </a:solidFill>
                <a:latin typeface="Times New Roman" panose="02020603050405020304" pitchFamily="18" charset="0"/>
                <a:ea typeface="Inter Bold" pitchFamily="34" charset="-122"/>
                <a:cs typeface="Times New Roman" panose="02020603050405020304" pitchFamily="18" charset="0"/>
              </a:rPr>
              <a:t>EEG-based LSTM</a:t>
            </a:r>
            <a:endParaRPr lang="en-US" sz="1400" dirty="0">
              <a:latin typeface="Times New Roman" panose="02020603050405020304" pitchFamily="18" charset="0"/>
              <a:cs typeface="Times New Roman" panose="02020603050405020304" pitchFamily="18" charset="0"/>
            </a:endParaRPr>
          </a:p>
        </p:txBody>
      </p:sp>
      <p:sp>
        <p:nvSpPr>
          <p:cNvPr id="14" name="Text 8"/>
          <p:cNvSpPr/>
          <p:nvPr/>
        </p:nvSpPr>
        <p:spPr>
          <a:xfrm>
            <a:off x="3214688" y="1380530"/>
            <a:ext cx="2714625" cy="215444"/>
          </a:xfrm>
          <a:prstGeom prst="rect">
            <a:avLst/>
          </a:prstGeom>
          <a:noFill/>
          <a:ln/>
        </p:spPr>
        <p:txBody>
          <a:bodyPr wrap="square" lIns="0" tIns="0" rIns="0" bIns="0" rtlCol="0" anchor="t">
            <a:spAutoFit/>
          </a:bodyPr>
          <a:lstStyle/>
          <a:p>
            <a:pPr marL="0" indent="0" algn="l">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Sequential Memory</a:t>
            </a:r>
            <a:endParaRPr lang="en-US" sz="1400" dirty="0">
              <a:latin typeface="Times New Roman" panose="02020603050405020304" pitchFamily="18" charset="0"/>
              <a:cs typeface="Times New Roman" panose="02020603050405020304" pitchFamily="18" charset="0"/>
            </a:endParaRPr>
          </a:p>
        </p:txBody>
      </p:sp>
      <p:sp>
        <p:nvSpPr>
          <p:cNvPr id="15" name="Text 9"/>
          <p:cNvSpPr/>
          <p:nvPr/>
        </p:nvSpPr>
        <p:spPr>
          <a:xfrm>
            <a:off x="3214688" y="1598414"/>
            <a:ext cx="2714625" cy="804451"/>
          </a:xfrm>
          <a:prstGeom prst="rect">
            <a:avLst/>
          </a:prstGeom>
          <a:noFill/>
          <a:ln/>
        </p:spPr>
        <p:txBody>
          <a:bodyPr wrap="square" lIns="0" tIns="0" rIns="0" bIns="0" rtlCol="0" anchor="t">
            <a:spAutoFit/>
          </a:bodyPr>
          <a:lstStyle/>
          <a:p>
            <a:pPr marL="0" indent="0" algn="just">
              <a:lnSpc>
                <a:spcPct val="128000"/>
              </a:lnSpc>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Leverages internal memory cells to process sequential data and learn cognitive state transitions.</a:t>
            </a:r>
            <a:endParaRPr lang="en-US" sz="1400" dirty="0">
              <a:latin typeface="Times New Roman" panose="02020603050405020304" pitchFamily="18" charset="0"/>
              <a:cs typeface="Times New Roman" panose="02020603050405020304" pitchFamily="18" charset="0"/>
            </a:endParaRPr>
          </a:p>
        </p:txBody>
      </p:sp>
      <p:sp>
        <p:nvSpPr>
          <p:cNvPr id="17" name="Text 10"/>
          <p:cNvSpPr/>
          <p:nvPr/>
        </p:nvSpPr>
        <p:spPr>
          <a:xfrm>
            <a:off x="3382092" y="2398954"/>
            <a:ext cx="2104308" cy="430887"/>
          </a:xfrm>
          <a:prstGeom prst="rect">
            <a:avLst/>
          </a:prstGeom>
          <a:noFill/>
          <a:ln/>
        </p:spPr>
        <p:txBody>
          <a:bodyPr wrap="square" lIns="0" tIns="0" rIns="0" bIns="0" rtlCol="0" anchor="t">
            <a:spAutoFit/>
          </a:bodyPr>
          <a:lstStyle/>
          <a:p>
            <a:pPr marL="0" indent="0" algn="l">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Excels at temporal dependency learning</a:t>
            </a:r>
            <a:endParaRPr lang="en-US" sz="1400" dirty="0">
              <a:latin typeface="Times New Roman" panose="02020603050405020304" pitchFamily="18" charset="0"/>
              <a:cs typeface="Times New Roman" panose="02020603050405020304" pitchFamily="18" charset="0"/>
            </a:endParaRPr>
          </a:p>
        </p:txBody>
      </p:sp>
      <p:sp>
        <p:nvSpPr>
          <p:cNvPr id="19" name="Text 11"/>
          <p:cNvSpPr/>
          <p:nvPr/>
        </p:nvSpPr>
        <p:spPr>
          <a:xfrm>
            <a:off x="3412243" y="2868199"/>
            <a:ext cx="1940254" cy="430887"/>
          </a:xfrm>
          <a:prstGeom prst="rect">
            <a:avLst/>
          </a:prstGeom>
          <a:noFill/>
          <a:ln/>
        </p:spPr>
        <p:txBody>
          <a:bodyPr wrap="square" lIns="0" tIns="0" rIns="0" bIns="0" rtlCol="0" anchor="t">
            <a:spAutoFit/>
          </a:bodyPr>
          <a:lstStyle/>
          <a:p>
            <a:pPr marL="0" indent="0" algn="l">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Models dynamic neurological state changes</a:t>
            </a:r>
            <a:endParaRPr lang="en-US" sz="1400" dirty="0">
              <a:latin typeface="Times New Roman" panose="02020603050405020304" pitchFamily="18" charset="0"/>
              <a:cs typeface="Times New Roman" panose="02020603050405020304" pitchFamily="18" charset="0"/>
            </a:endParaRPr>
          </a:p>
        </p:txBody>
      </p:sp>
      <p:sp>
        <p:nvSpPr>
          <p:cNvPr id="21" name="Text 12"/>
          <p:cNvSpPr/>
          <p:nvPr/>
        </p:nvSpPr>
        <p:spPr>
          <a:xfrm>
            <a:off x="3412243" y="3299086"/>
            <a:ext cx="2183014" cy="430887"/>
          </a:xfrm>
          <a:prstGeom prst="rect">
            <a:avLst/>
          </a:prstGeom>
          <a:noFill/>
          <a:ln/>
        </p:spPr>
        <p:txBody>
          <a:bodyPr wrap="square" lIns="0" tIns="0" rIns="0" bIns="0" rtlCol="0" anchor="t">
            <a:spAutoFit/>
          </a:bodyPr>
          <a:lstStyle/>
          <a:p>
            <a:pPr marL="0" indent="0" algn="l">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Effective for high-resolution time-series</a:t>
            </a:r>
            <a:endParaRPr lang="en-US" sz="1400" dirty="0">
              <a:latin typeface="Times New Roman" panose="02020603050405020304" pitchFamily="18" charset="0"/>
              <a:cs typeface="Times New Roman" panose="02020603050405020304" pitchFamily="18" charset="0"/>
            </a:endParaRPr>
          </a:p>
        </p:txBody>
      </p:sp>
      <p:sp>
        <p:nvSpPr>
          <p:cNvPr id="22" name="Text 13"/>
          <p:cNvSpPr/>
          <p:nvPr/>
        </p:nvSpPr>
        <p:spPr>
          <a:xfrm>
            <a:off x="6072188" y="1076920"/>
            <a:ext cx="2714625" cy="215444"/>
          </a:xfrm>
          <a:prstGeom prst="rect">
            <a:avLst/>
          </a:prstGeom>
          <a:noFill/>
          <a:ln/>
        </p:spPr>
        <p:txBody>
          <a:bodyPr wrap="square" lIns="0" tIns="0" rIns="0" bIns="0" rtlCol="0" anchor="t">
            <a:spAutoFit/>
          </a:bodyPr>
          <a:lstStyle/>
          <a:p>
            <a:pPr marL="0" indent="0" algn="l">
              <a:buNone/>
            </a:pPr>
            <a:r>
              <a:rPr lang="en-US" sz="1400" b="1" dirty="0">
                <a:solidFill>
                  <a:srgbClr val="2C3E50"/>
                </a:solidFill>
                <a:latin typeface="Times New Roman" panose="02020603050405020304" pitchFamily="18" charset="0"/>
                <a:ea typeface="Inter Bold" pitchFamily="34" charset="-122"/>
                <a:cs typeface="Times New Roman" panose="02020603050405020304" pitchFamily="18" charset="0"/>
              </a:rPr>
              <a:t>Hybrid CNN-LSTM</a:t>
            </a:r>
            <a:endParaRPr lang="en-US" sz="1400" dirty="0">
              <a:latin typeface="Times New Roman" panose="02020603050405020304" pitchFamily="18" charset="0"/>
              <a:cs typeface="Times New Roman" panose="02020603050405020304" pitchFamily="18" charset="0"/>
            </a:endParaRPr>
          </a:p>
        </p:txBody>
      </p:sp>
      <p:sp>
        <p:nvSpPr>
          <p:cNvPr id="23" name="Text 14"/>
          <p:cNvSpPr/>
          <p:nvPr/>
        </p:nvSpPr>
        <p:spPr>
          <a:xfrm>
            <a:off x="6072188" y="1380530"/>
            <a:ext cx="2714625" cy="215444"/>
          </a:xfrm>
          <a:prstGeom prst="rect">
            <a:avLst/>
          </a:prstGeom>
          <a:noFill/>
          <a:ln/>
        </p:spPr>
        <p:txBody>
          <a:bodyPr wrap="square" lIns="0" tIns="0" rIns="0" bIns="0" rtlCol="0" anchor="t">
            <a:spAutoFit/>
          </a:bodyPr>
          <a:lstStyle/>
          <a:p>
            <a:pPr marL="0" indent="0" algn="l">
              <a:buNone/>
            </a:pPr>
            <a:r>
              <a:rPr lang="en-US" sz="1400" b="1" dirty="0">
                <a:solidFill>
                  <a:srgbClr val="3498DB"/>
                </a:solidFill>
                <a:latin typeface="Times New Roman" panose="02020603050405020304" pitchFamily="18" charset="0"/>
                <a:ea typeface="Inter Bold" pitchFamily="34" charset="-122"/>
                <a:cs typeface="Times New Roman" panose="02020603050405020304" pitchFamily="18" charset="0"/>
              </a:rPr>
              <a:t>Spatiotemporal Fusion</a:t>
            </a:r>
            <a:endParaRPr lang="en-US" sz="1400" dirty="0">
              <a:latin typeface="Times New Roman" panose="02020603050405020304" pitchFamily="18" charset="0"/>
              <a:cs typeface="Times New Roman" panose="02020603050405020304" pitchFamily="18" charset="0"/>
            </a:endParaRPr>
          </a:p>
        </p:txBody>
      </p:sp>
      <p:sp>
        <p:nvSpPr>
          <p:cNvPr id="24" name="Text 15"/>
          <p:cNvSpPr/>
          <p:nvPr/>
        </p:nvSpPr>
        <p:spPr>
          <a:xfrm>
            <a:off x="6072188" y="1598414"/>
            <a:ext cx="2714625" cy="800540"/>
          </a:xfrm>
          <a:prstGeom prst="rect">
            <a:avLst/>
          </a:prstGeom>
          <a:noFill/>
          <a:ln/>
        </p:spPr>
        <p:txBody>
          <a:bodyPr wrap="square" lIns="0" tIns="0" rIns="0" bIns="0" rtlCol="0" anchor="t">
            <a:spAutoFit/>
          </a:bodyPr>
          <a:lstStyle/>
          <a:p>
            <a:pPr marL="0" indent="0" algn="l">
              <a:lnSpc>
                <a:spcPct val="128000"/>
              </a:lnSpc>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Combines CNN for spatial feature extraction with LSTM for long-term temporal dependencies.</a:t>
            </a:r>
            <a:endParaRPr lang="en-US" sz="1400" dirty="0">
              <a:latin typeface="Times New Roman" panose="02020603050405020304" pitchFamily="18" charset="0"/>
              <a:cs typeface="Times New Roman" panose="02020603050405020304" pitchFamily="18" charset="0"/>
            </a:endParaRPr>
          </a:p>
        </p:txBody>
      </p:sp>
      <p:sp>
        <p:nvSpPr>
          <p:cNvPr id="26" name="Text 16"/>
          <p:cNvSpPr/>
          <p:nvPr/>
        </p:nvSpPr>
        <p:spPr>
          <a:xfrm>
            <a:off x="6219014" y="2465309"/>
            <a:ext cx="2104308" cy="430887"/>
          </a:xfrm>
          <a:prstGeom prst="rect">
            <a:avLst/>
          </a:prstGeom>
          <a:noFill/>
          <a:ln/>
        </p:spPr>
        <p:txBody>
          <a:bodyPr wrap="square" lIns="0" tIns="0" rIns="0" bIns="0" rtlCol="0" anchor="t">
            <a:spAutoFit/>
          </a:bodyPr>
          <a:lstStyle/>
          <a:p>
            <a:pPr marL="0" indent="0" algn="l">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Simultaneous spatial &amp; temporal learning</a:t>
            </a:r>
            <a:endParaRPr lang="en-US" sz="1400" dirty="0">
              <a:latin typeface="Times New Roman" panose="02020603050405020304" pitchFamily="18" charset="0"/>
              <a:cs typeface="Times New Roman" panose="02020603050405020304" pitchFamily="18" charset="0"/>
            </a:endParaRPr>
          </a:p>
        </p:txBody>
      </p:sp>
      <p:pic>
        <p:nvPicPr>
          <p:cNvPr id="27" name="Image 8" descr="preencoded.png"/>
          <p:cNvPicPr>
            <a:picLocks noChangeAspect="1"/>
          </p:cNvPicPr>
          <p:nvPr/>
        </p:nvPicPr>
        <p:blipFill>
          <a:blip r:embed="rId4"/>
          <a:stretch>
            <a:fillRect/>
          </a:stretch>
        </p:blipFill>
        <p:spPr>
          <a:xfrm>
            <a:off x="6072188" y="2285609"/>
            <a:ext cx="100013" cy="100013"/>
          </a:xfrm>
          <a:prstGeom prst="rect">
            <a:avLst/>
          </a:prstGeom>
        </p:spPr>
      </p:pic>
      <p:sp>
        <p:nvSpPr>
          <p:cNvPr id="28" name="Text 17"/>
          <p:cNvSpPr/>
          <p:nvPr/>
        </p:nvSpPr>
        <p:spPr>
          <a:xfrm>
            <a:off x="6277152" y="2975066"/>
            <a:ext cx="1784403" cy="430887"/>
          </a:xfrm>
          <a:prstGeom prst="rect">
            <a:avLst/>
          </a:prstGeom>
          <a:noFill/>
          <a:ln/>
        </p:spPr>
        <p:txBody>
          <a:bodyPr wrap="square" lIns="0" tIns="0" rIns="0" bIns="0" rtlCol="0" anchor="t">
            <a:spAutoFit/>
          </a:bodyPr>
          <a:lstStyle/>
          <a:p>
            <a:pPr marL="0" indent="0" algn="l">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Automatic hierarchical feature extraction</a:t>
            </a:r>
            <a:endParaRPr lang="en-US" sz="1400" dirty="0">
              <a:latin typeface="Times New Roman" panose="02020603050405020304" pitchFamily="18" charset="0"/>
              <a:cs typeface="Times New Roman" panose="02020603050405020304" pitchFamily="18" charset="0"/>
            </a:endParaRPr>
          </a:p>
        </p:txBody>
      </p:sp>
      <p:sp>
        <p:nvSpPr>
          <p:cNvPr id="30" name="Text 18"/>
          <p:cNvSpPr/>
          <p:nvPr/>
        </p:nvSpPr>
        <p:spPr>
          <a:xfrm>
            <a:off x="6277151" y="3484823"/>
            <a:ext cx="2235477" cy="430887"/>
          </a:xfrm>
          <a:prstGeom prst="rect">
            <a:avLst/>
          </a:prstGeom>
          <a:noFill/>
          <a:ln/>
        </p:spPr>
        <p:txBody>
          <a:bodyPr wrap="square" lIns="0" tIns="0" rIns="0" bIns="0" rtlCol="0" anchor="t">
            <a:spAutoFit/>
          </a:bodyPr>
          <a:lstStyle/>
          <a:p>
            <a:pPr marL="0" indent="0" algn="l">
              <a:buNone/>
            </a:pPr>
            <a:r>
              <a:rPr lang="en-US" sz="1400" dirty="0">
                <a:solidFill>
                  <a:srgbClr val="34495E"/>
                </a:solidFill>
                <a:latin typeface="Times New Roman" panose="02020603050405020304" pitchFamily="18" charset="0"/>
                <a:ea typeface="Inter" pitchFamily="34" charset="-122"/>
                <a:cs typeface="Times New Roman" panose="02020603050405020304" pitchFamily="18" charset="0"/>
              </a:rPr>
              <a:t>Robust against non-stationary EEG noise</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0" y="428625"/>
            <a:ext cx="9144000" cy="215444"/>
          </a:xfrm>
          <a:prstGeom prst="rect">
            <a:avLst/>
          </a:prstGeom>
          <a:noFill/>
          <a:ln/>
        </p:spPr>
        <p:txBody>
          <a:bodyPr wrap="square" lIns="0" tIns="0" rIns="0" bIns="0" rtlCol="0" anchor="t">
            <a:spAutoFit/>
          </a:bodyPr>
          <a:lstStyle/>
          <a:p>
            <a:pPr marL="0" indent="0" algn="ctr">
              <a:buNone/>
            </a:pPr>
            <a:r>
              <a:rPr lang="en-US" sz="1400" b="1" dirty="0">
                <a:solidFill>
                  <a:srgbClr val="2C3E50"/>
                </a:solidFill>
                <a:latin typeface="Inter Bold" pitchFamily="34" charset="0"/>
                <a:ea typeface="Inter Bold" pitchFamily="34" charset="-122"/>
                <a:cs typeface="Inter Bold" pitchFamily="34" charset="-120"/>
              </a:rPr>
              <a:t>Comparative Analysis: Datasets</a:t>
            </a:r>
            <a:endParaRPr lang="en-US" sz="1400" dirty="0"/>
          </a:p>
        </p:txBody>
      </p:sp>
      <p:sp>
        <p:nvSpPr>
          <p:cNvPr id="4" name="Shape 1"/>
          <p:cNvSpPr/>
          <p:nvPr/>
        </p:nvSpPr>
        <p:spPr>
          <a:xfrm>
            <a:off x="428625" y="1048345"/>
            <a:ext cx="8286750" cy="2282372"/>
          </a:xfrm>
          <a:prstGeom prst="rect">
            <a:avLst/>
          </a:prstGeom>
          <a:solidFill>
            <a:srgbClr val="FFFFFF"/>
          </a:solidFill>
          <a:ln w="9144">
            <a:solidFill>
              <a:srgbClr val="BDC3C7"/>
            </a:solidFill>
            <a:prstDash val="solid"/>
          </a:ln>
        </p:spPr>
      </p:sp>
      <p:sp>
        <p:nvSpPr>
          <p:cNvPr id="5" name="Shape 2"/>
          <p:cNvSpPr/>
          <p:nvPr/>
        </p:nvSpPr>
        <p:spPr>
          <a:xfrm>
            <a:off x="432197" y="1051917"/>
            <a:ext cx="1251719" cy="367903"/>
          </a:xfrm>
          <a:prstGeom prst="rect">
            <a:avLst/>
          </a:prstGeom>
          <a:solidFill>
            <a:srgbClr val="3498DB"/>
          </a:solidFill>
          <a:ln w="9144">
            <a:solidFill>
              <a:srgbClr val="BDC3C7"/>
            </a:solidFill>
            <a:prstDash val="solid"/>
          </a:ln>
        </p:spPr>
      </p:sp>
      <p:sp>
        <p:nvSpPr>
          <p:cNvPr id="6" name="Text 3"/>
          <p:cNvSpPr/>
          <p:nvPr/>
        </p:nvSpPr>
        <p:spPr>
          <a:xfrm>
            <a:off x="432197" y="999394"/>
            <a:ext cx="817340" cy="472950"/>
          </a:xfrm>
          <a:prstGeom prst="rect">
            <a:avLst/>
          </a:prstGeom>
          <a:noFill/>
          <a:ln/>
        </p:spPr>
        <p:txBody>
          <a:bodyPr wrap="none" lIns="127508" tIns="127508" rIns="127508" bIns="127508" rtlCol="0" anchor="ctr">
            <a:spAutoFit/>
          </a:bodyPr>
          <a:lstStyle/>
          <a:p>
            <a:pPr marL="0" indent="0" algn="l">
              <a:buNone/>
            </a:pPr>
            <a:r>
              <a:rPr lang="en-US" sz="1400" b="1" dirty="0">
                <a:solidFill>
                  <a:srgbClr val="FFFFFF"/>
                </a:solidFill>
                <a:latin typeface="Inter Bold" pitchFamily="34" charset="0"/>
                <a:ea typeface="Inter Bold" pitchFamily="34" charset="-122"/>
                <a:cs typeface="Inter Bold" pitchFamily="34" charset="-120"/>
              </a:rPr>
              <a:t>Metric</a:t>
            </a:r>
            <a:endParaRPr lang="en-US" sz="1400" dirty="0"/>
          </a:p>
        </p:txBody>
      </p:sp>
      <p:sp>
        <p:nvSpPr>
          <p:cNvPr id="7" name="Shape 4"/>
          <p:cNvSpPr/>
          <p:nvPr/>
        </p:nvSpPr>
        <p:spPr>
          <a:xfrm>
            <a:off x="1683916" y="1051917"/>
            <a:ext cx="2399993" cy="367903"/>
          </a:xfrm>
          <a:prstGeom prst="rect">
            <a:avLst/>
          </a:prstGeom>
          <a:solidFill>
            <a:srgbClr val="3498DB"/>
          </a:solidFill>
          <a:ln w="9144">
            <a:solidFill>
              <a:srgbClr val="BDC3C7"/>
            </a:solidFill>
            <a:prstDash val="solid"/>
          </a:ln>
        </p:spPr>
      </p:sp>
      <p:sp>
        <p:nvSpPr>
          <p:cNvPr id="8" name="Text 5"/>
          <p:cNvSpPr/>
          <p:nvPr/>
        </p:nvSpPr>
        <p:spPr>
          <a:xfrm>
            <a:off x="1683916" y="891672"/>
            <a:ext cx="2399993" cy="688394"/>
          </a:xfrm>
          <a:prstGeom prst="rect">
            <a:avLst/>
          </a:prstGeom>
          <a:noFill/>
          <a:ln/>
        </p:spPr>
        <p:txBody>
          <a:bodyPr wrap="square" lIns="127508" tIns="127508" rIns="127508" bIns="127508" rtlCol="0" anchor="ctr">
            <a:spAutoFit/>
          </a:bodyPr>
          <a:lstStyle/>
          <a:p>
            <a:pPr marL="0" indent="0" algn="l">
              <a:buNone/>
            </a:pPr>
            <a:r>
              <a:rPr lang="en-US" sz="1400" b="1" dirty="0">
                <a:solidFill>
                  <a:srgbClr val="FFFFFF"/>
                </a:solidFill>
                <a:latin typeface="Inter Bold" pitchFamily="34" charset="0"/>
                <a:ea typeface="Inter Bold" pitchFamily="34" charset="-122"/>
                <a:cs typeface="Inter Bold" pitchFamily="34" charset="-120"/>
              </a:rPr>
              <a:t>Paper 1: EEG-Transformer</a:t>
            </a:r>
            <a:endParaRPr lang="en-US" sz="1400" dirty="0"/>
          </a:p>
        </p:txBody>
      </p:sp>
      <p:sp>
        <p:nvSpPr>
          <p:cNvPr id="9" name="Shape 6"/>
          <p:cNvSpPr/>
          <p:nvPr/>
        </p:nvSpPr>
        <p:spPr>
          <a:xfrm>
            <a:off x="4083909" y="1051917"/>
            <a:ext cx="2131377" cy="367903"/>
          </a:xfrm>
          <a:prstGeom prst="rect">
            <a:avLst/>
          </a:prstGeom>
          <a:solidFill>
            <a:srgbClr val="3498DB"/>
          </a:solidFill>
          <a:ln w="9144">
            <a:solidFill>
              <a:srgbClr val="BDC3C7"/>
            </a:solidFill>
            <a:prstDash val="solid"/>
          </a:ln>
        </p:spPr>
      </p:sp>
      <p:sp>
        <p:nvSpPr>
          <p:cNvPr id="10" name="Text 7"/>
          <p:cNvSpPr/>
          <p:nvPr/>
        </p:nvSpPr>
        <p:spPr>
          <a:xfrm>
            <a:off x="4083909" y="891672"/>
            <a:ext cx="2131377" cy="688394"/>
          </a:xfrm>
          <a:prstGeom prst="rect">
            <a:avLst/>
          </a:prstGeom>
          <a:noFill/>
          <a:ln/>
        </p:spPr>
        <p:txBody>
          <a:bodyPr wrap="square" lIns="127508" tIns="127508" rIns="127508" bIns="127508" rtlCol="0" anchor="ctr">
            <a:spAutoFit/>
          </a:bodyPr>
          <a:lstStyle/>
          <a:p>
            <a:pPr marL="0" indent="0" algn="l">
              <a:buNone/>
            </a:pPr>
            <a:r>
              <a:rPr lang="en-US" sz="1400" b="1" dirty="0">
                <a:solidFill>
                  <a:srgbClr val="FFFFFF"/>
                </a:solidFill>
                <a:latin typeface="Inter Bold" pitchFamily="34" charset="0"/>
                <a:ea typeface="Inter Bold" pitchFamily="34" charset="-122"/>
                <a:cs typeface="Inter Bold" pitchFamily="34" charset="-120"/>
              </a:rPr>
              <a:t>Paper 2: LSTM Networks</a:t>
            </a:r>
            <a:endParaRPr lang="en-US" sz="1400" dirty="0"/>
          </a:p>
        </p:txBody>
      </p:sp>
      <p:sp>
        <p:nvSpPr>
          <p:cNvPr id="11" name="Shape 8"/>
          <p:cNvSpPr/>
          <p:nvPr/>
        </p:nvSpPr>
        <p:spPr>
          <a:xfrm>
            <a:off x="6213974" y="1051917"/>
            <a:ext cx="2497829" cy="367903"/>
          </a:xfrm>
          <a:prstGeom prst="rect">
            <a:avLst/>
          </a:prstGeom>
          <a:solidFill>
            <a:srgbClr val="3498DB"/>
          </a:solidFill>
          <a:ln w="9144">
            <a:solidFill>
              <a:srgbClr val="BDC3C7"/>
            </a:solidFill>
            <a:prstDash val="solid"/>
          </a:ln>
        </p:spPr>
      </p:sp>
      <p:sp>
        <p:nvSpPr>
          <p:cNvPr id="12" name="Text 9"/>
          <p:cNvSpPr/>
          <p:nvPr/>
        </p:nvSpPr>
        <p:spPr>
          <a:xfrm>
            <a:off x="6213974" y="999394"/>
            <a:ext cx="2497829" cy="472950"/>
          </a:xfrm>
          <a:prstGeom prst="rect">
            <a:avLst/>
          </a:prstGeom>
          <a:noFill/>
          <a:ln/>
        </p:spPr>
        <p:txBody>
          <a:bodyPr wrap="square" lIns="127508" tIns="127508" rIns="127508" bIns="127508" rtlCol="0" anchor="ctr">
            <a:spAutoFit/>
          </a:bodyPr>
          <a:lstStyle/>
          <a:p>
            <a:pPr marL="0" indent="0" algn="l">
              <a:buNone/>
            </a:pPr>
            <a:r>
              <a:rPr lang="en-US" sz="1400" b="1" dirty="0">
                <a:solidFill>
                  <a:srgbClr val="FFFFFF"/>
                </a:solidFill>
                <a:latin typeface="Inter Bold" pitchFamily="34" charset="0"/>
                <a:ea typeface="Inter Bold" pitchFamily="34" charset="-122"/>
                <a:cs typeface="Inter Bold" pitchFamily="34" charset="-120"/>
              </a:rPr>
              <a:t>Paper 3: Hybrid CNN-LSTM</a:t>
            </a:r>
            <a:endParaRPr lang="en-US" sz="1400" dirty="0"/>
          </a:p>
        </p:txBody>
      </p:sp>
      <p:sp>
        <p:nvSpPr>
          <p:cNvPr id="13" name="Text 10"/>
          <p:cNvSpPr/>
          <p:nvPr/>
        </p:nvSpPr>
        <p:spPr>
          <a:xfrm>
            <a:off x="432197" y="1412677"/>
            <a:ext cx="1253058" cy="484556"/>
          </a:xfrm>
          <a:prstGeom prst="rect">
            <a:avLst/>
          </a:prstGeom>
          <a:noFill/>
          <a:ln/>
        </p:spPr>
        <p:txBody>
          <a:bodyPr wrap="square" lIns="127508" tIns="127508" rIns="127508" bIns="127508" rtlCol="0" anchor="t">
            <a:spAutoFit/>
          </a:bodyPr>
          <a:lstStyle/>
          <a:p>
            <a:pPr marL="0" indent="0" algn="l">
              <a:lnSpc>
                <a:spcPct val="112000"/>
              </a:lnSpc>
              <a:buNone/>
            </a:pPr>
            <a:r>
              <a:rPr lang="en-US" sz="1400" b="1" dirty="0">
                <a:solidFill>
                  <a:srgbClr val="2C3E50"/>
                </a:solidFill>
                <a:latin typeface="Inter Bold" pitchFamily="34" charset="0"/>
                <a:ea typeface="Inter Bold" pitchFamily="34" charset="-122"/>
                <a:cs typeface="Inter Bold" pitchFamily="34" charset="-120"/>
              </a:rPr>
              <a:t>Source</a:t>
            </a:r>
            <a:endParaRPr lang="en-US" sz="1400" dirty="0"/>
          </a:p>
        </p:txBody>
      </p:sp>
      <p:sp>
        <p:nvSpPr>
          <p:cNvPr id="14" name="Text 11"/>
          <p:cNvSpPr/>
          <p:nvPr/>
        </p:nvSpPr>
        <p:spPr>
          <a:xfrm>
            <a:off x="1685255" y="1412677"/>
            <a:ext cx="2402560" cy="727187"/>
          </a:xfrm>
          <a:prstGeom prst="rect">
            <a:avLst/>
          </a:prstGeom>
          <a:noFill/>
          <a:ln/>
        </p:spPr>
        <p:txBody>
          <a:bodyPr wrap="square" lIns="127508" tIns="127508" rIns="127508" bIns="127508" rtlCol="0" anchor="t">
            <a:spAutoFit/>
          </a:bodyPr>
          <a:lstStyle/>
          <a:p>
            <a:pPr marL="0" indent="0" algn="l">
              <a:lnSpc>
                <a:spcPct val="112000"/>
              </a:lnSpc>
              <a:buNone/>
            </a:pPr>
            <a:r>
              <a:rPr lang="en-US" sz="1400" dirty="0">
                <a:solidFill>
                  <a:srgbClr val="34495E"/>
                </a:solidFill>
                <a:latin typeface="Inter" pitchFamily="34" charset="0"/>
                <a:ea typeface="Inter" pitchFamily="34" charset="-122"/>
                <a:cs typeface="Inter" pitchFamily="34" charset="-120"/>
              </a:rPr>
              <a:t>Tech. Univ. of Dresden (Germany)</a:t>
            </a:r>
            <a:endParaRPr lang="en-US" sz="1400" dirty="0"/>
          </a:p>
        </p:txBody>
      </p:sp>
      <p:sp>
        <p:nvSpPr>
          <p:cNvPr id="15" name="Text 12"/>
          <p:cNvSpPr/>
          <p:nvPr/>
        </p:nvSpPr>
        <p:spPr>
          <a:xfrm>
            <a:off x="4087816" y="1412677"/>
            <a:ext cx="2124819" cy="485902"/>
          </a:xfrm>
          <a:prstGeom prst="rect">
            <a:avLst/>
          </a:prstGeom>
          <a:noFill/>
          <a:ln/>
        </p:spPr>
        <p:txBody>
          <a:bodyPr wrap="square" lIns="127508" tIns="127508" rIns="127508" bIns="127508" rtlCol="0" anchor="t">
            <a:spAutoFit/>
          </a:bodyPr>
          <a:lstStyle/>
          <a:p>
            <a:pPr marL="0" indent="0" algn="l">
              <a:lnSpc>
                <a:spcPct val="112000"/>
              </a:lnSpc>
              <a:buNone/>
            </a:pPr>
            <a:r>
              <a:rPr lang="en-US" sz="1400" dirty="0">
                <a:solidFill>
                  <a:srgbClr val="34495E"/>
                </a:solidFill>
                <a:latin typeface="Inter" pitchFamily="34" charset="0"/>
                <a:ea typeface="Inter" pitchFamily="34" charset="-122"/>
                <a:cs typeface="Inter" pitchFamily="34" charset="-120"/>
              </a:rPr>
              <a:t>Clinical CPT Tests</a:t>
            </a:r>
            <a:endParaRPr lang="en-US" sz="1400" dirty="0"/>
          </a:p>
        </p:txBody>
      </p:sp>
      <p:sp>
        <p:nvSpPr>
          <p:cNvPr id="16" name="Text 13"/>
          <p:cNvSpPr/>
          <p:nvPr/>
        </p:nvSpPr>
        <p:spPr>
          <a:xfrm>
            <a:off x="6212635" y="1412677"/>
            <a:ext cx="2499168" cy="727187"/>
          </a:xfrm>
          <a:prstGeom prst="rect">
            <a:avLst/>
          </a:prstGeom>
          <a:noFill/>
          <a:ln/>
        </p:spPr>
        <p:txBody>
          <a:bodyPr wrap="square" lIns="127508" tIns="127508" rIns="127508" bIns="127508" rtlCol="0" anchor="t">
            <a:spAutoFit/>
          </a:bodyPr>
          <a:lstStyle/>
          <a:p>
            <a:pPr marL="0" indent="0" algn="l">
              <a:lnSpc>
                <a:spcPct val="112000"/>
              </a:lnSpc>
              <a:buNone/>
            </a:pPr>
            <a:r>
              <a:rPr lang="en-US" sz="1400" dirty="0">
                <a:solidFill>
                  <a:srgbClr val="34495E"/>
                </a:solidFill>
                <a:latin typeface="Inter" pitchFamily="34" charset="0"/>
                <a:ea typeface="Inter" pitchFamily="34" charset="-122"/>
                <a:cs typeface="Inter" pitchFamily="34" charset="-120"/>
              </a:rPr>
              <a:t>IEEE Data Port (ADHD &amp; FOCUS)</a:t>
            </a:r>
            <a:endParaRPr lang="en-US" sz="1400" dirty="0"/>
          </a:p>
        </p:txBody>
      </p:sp>
      <p:sp>
        <p:nvSpPr>
          <p:cNvPr id="17" name="Shape 14"/>
          <p:cNvSpPr/>
          <p:nvPr/>
        </p:nvSpPr>
        <p:spPr>
          <a:xfrm>
            <a:off x="432197" y="1794142"/>
            <a:ext cx="8279606" cy="381465"/>
          </a:xfrm>
          <a:prstGeom prst="rect">
            <a:avLst/>
          </a:prstGeom>
          <a:solidFill>
            <a:srgbClr val="F2F2F2"/>
          </a:solidFill>
          <a:ln/>
        </p:spPr>
      </p:sp>
      <p:sp>
        <p:nvSpPr>
          <p:cNvPr id="18" name="Text 15"/>
          <p:cNvSpPr/>
          <p:nvPr/>
        </p:nvSpPr>
        <p:spPr>
          <a:xfrm>
            <a:off x="432197" y="1794142"/>
            <a:ext cx="1253058" cy="727187"/>
          </a:xfrm>
          <a:prstGeom prst="rect">
            <a:avLst/>
          </a:prstGeom>
          <a:noFill/>
          <a:ln/>
        </p:spPr>
        <p:txBody>
          <a:bodyPr wrap="square" lIns="127508" tIns="127508" rIns="127508" bIns="127508" rtlCol="0" anchor="t">
            <a:spAutoFit/>
          </a:bodyPr>
          <a:lstStyle/>
          <a:p>
            <a:pPr marL="0" indent="0" algn="l">
              <a:lnSpc>
                <a:spcPct val="112000"/>
              </a:lnSpc>
              <a:buNone/>
            </a:pPr>
            <a:r>
              <a:rPr lang="en-US" sz="1400" b="1" dirty="0">
                <a:solidFill>
                  <a:srgbClr val="2C3E50"/>
                </a:solidFill>
                <a:latin typeface="Inter Bold" pitchFamily="34" charset="0"/>
                <a:ea typeface="Inter Bold" pitchFamily="34" charset="-122"/>
                <a:cs typeface="Inter Bold" pitchFamily="34" charset="-120"/>
              </a:rPr>
              <a:t>Total Subjects </a:t>
            </a:r>
            <a:endParaRPr lang="en-US" sz="1400" dirty="0"/>
          </a:p>
        </p:txBody>
      </p:sp>
      <p:sp>
        <p:nvSpPr>
          <p:cNvPr id="19" name="Text 16"/>
          <p:cNvSpPr/>
          <p:nvPr/>
        </p:nvSpPr>
        <p:spPr>
          <a:xfrm>
            <a:off x="1685255" y="1794142"/>
            <a:ext cx="2402560" cy="484556"/>
          </a:xfrm>
          <a:prstGeom prst="rect">
            <a:avLst/>
          </a:prstGeom>
          <a:noFill/>
          <a:ln/>
        </p:spPr>
        <p:txBody>
          <a:bodyPr wrap="square" lIns="127508" tIns="127508" rIns="127508" bIns="127508" rtlCol="0" anchor="t">
            <a:spAutoFit/>
          </a:bodyPr>
          <a:lstStyle/>
          <a:p>
            <a:pPr marL="0" indent="0" algn="l">
              <a:lnSpc>
                <a:spcPct val="112000"/>
              </a:lnSpc>
              <a:buNone/>
            </a:pPr>
            <a:r>
              <a:rPr lang="en-US" sz="1400" dirty="0">
                <a:solidFill>
                  <a:srgbClr val="34495E"/>
                </a:solidFill>
                <a:latin typeface="Inter" pitchFamily="34" charset="0"/>
                <a:ea typeface="Inter" pitchFamily="34" charset="-122"/>
                <a:cs typeface="Inter" pitchFamily="34" charset="-120"/>
              </a:rPr>
              <a:t>144 Children</a:t>
            </a:r>
            <a:endParaRPr lang="en-US" sz="1400" dirty="0"/>
          </a:p>
        </p:txBody>
      </p:sp>
      <p:sp>
        <p:nvSpPr>
          <p:cNvPr id="20" name="Text 17"/>
          <p:cNvSpPr/>
          <p:nvPr/>
        </p:nvSpPr>
        <p:spPr>
          <a:xfrm>
            <a:off x="4087816" y="1794142"/>
            <a:ext cx="2124819" cy="484556"/>
          </a:xfrm>
          <a:prstGeom prst="rect">
            <a:avLst/>
          </a:prstGeom>
          <a:noFill/>
          <a:ln/>
        </p:spPr>
        <p:txBody>
          <a:bodyPr wrap="square" lIns="127508" tIns="127508" rIns="127508" bIns="127508" rtlCol="0" anchor="t">
            <a:spAutoFit/>
          </a:bodyPr>
          <a:lstStyle/>
          <a:p>
            <a:pPr marL="0" indent="0" algn="l">
              <a:lnSpc>
                <a:spcPct val="112000"/>
              </a:lnSpc>
              <a:buNone/>
            </a:pPr>
            <a:r>
              <a:rPr lang="en-US" sz="1400" dirty="0">
                <a:solidFill>
                  <a:srgbClr val="34495E"/>
                </a:solidFill>
                <a:latin typeface="Inter" pitchFamily="34" charset="0"/>
                <a:ea typeface="Inter" pitchFamily="34" charset="-122"/>
                <a:cs typeface="Inter" pitchFamily="34" charset="-120"/>
              </a:rPr>
              <a:t>60 Children</a:t>
            </a:r>
            <a:endParaRPr lang="en-US" sz="1400" dirty="0"/>
          </a:p>
        </p:txBody>
      </p:sp>
      <p:sp>
        <p:nvSpPr>
          <p:cNvPr id="21" name="Text 18"/>
          <p:cNvSpPr/>
          <p:nvPr/>
        </p:nvSpPr>
        <p:spPr>
          <a:xfrm>
            <a:off x="6212635" y="1794142"/>
            <a:ext cx="2499168" cy="484556"/>
          </a:xfrm>
          <a:prstGeom prst="rect">
            <a:avLst/>
          </a:prstGeom>
          <a:noFill/>
          <a:ln/>
        </p:spPr>
        <p:txBody>
          <a:bodyPr wrap="square" lIns="127508" tIns="127508" rIns="127508" bIns="127508" rtlCol="0" anchor="t">
            <a:spAutoFit/>
          </a:bodyPr>
          <a:lstStyle/>
          <a:p>
            <a:pPr marL="0" indent="0" algn="l">
              <a:lnSpc>
                <a:spcPct val="112000"/>
              </a:lnSpc>
              <a:buNone/>
            </a:pPr>
            <a:r>
              <a:rPr lang="en-US" sz="1400" dirty="0">
                <a:solidFill>
                  <a:srgbClr val="34495E"/>
                </a:solidFill>
                <a:latin typeface="Inter" pitchFamily="34" charset="0"/>
                <a:ea typeface="Inter" pitchFamily="34" charset="-122"/>
                <a:cs typeface="Inter" pitchFamily="34" charset="-120"/>
              </a:rPr>
              <a:t>121 (ADHD) / 9 (FOCUS)</a:t>
            </a:r>
            <a:endParaRPr lang="en-US" sz="1400" dirty="0"/>
          </a:p>
        </p:txBody>
      </p:sp>
      <p:sp>
        <p:nvSpPr>
          <p:cNvPr id="22" name="Text 19"/>
          <p:cNvSpPr/>
          <p:nvPr/>
        </p:nvSpPr>
        <p:spPr>
          <a:xfrm>
            <a:off x="432196" y="2175607"/>
            <a:ext cx="1614318" cy="485902"/>
          </a:xfrm>
          <a:prstGeom prst="rect">
            <a:avLst/>
          </a:prstGeom>
          <a:noFill/>
          <a:ln/>
        </p:spPr>
        <p:txBody>
          <a:bodyPr wrap="square" lIns="127508" tIns="127508" rIns="127508" bIns="127508" rtlCol="0" anchor="t">
            <a:spAutoFit/>
          </a:bodyPr>
          <a:lstStyle/>
          <a:p>
            <a:pPr marL="0" indent="0" algn="l">
              <a:lnSpc>
                <a:spcPct val="112000"/>
              </a:lnSpc>
              <a:buNone/>
            </a:pPr>
            <a:r>
              <a:rPr lang="en-US" sz="1400" b="1" dirty="0">
                <a:solidFill>
                  <a:srgbClr val="2C3E50"/>
                </a:solidFill>
                <a:latin typeface="Inter Bold" pitchFamily="34" charset="0"/>
                <a:ea typeface="Inter Bold" pitchFamily="34" charset="-122"/>
                <a:cs typeface="Inter Bold" pitchFamily="34" charset="-120"/>
              </a:rPr>
              <a:t>Groups</a:t>
            </a:r>
            <a:endParaRPr lang="en-US" sz="1400" dirty="0"/>
          </a:p>
        </p:txBody>
      </p:sp>
      <p:sp>
        <p:nvSpPr>
          <p:cNvPr id="23" name="Text 20"/>
          <p:cNvSpPr/>
          <p:nvPr/>
        </p:nvSpPr>
        <p:spPr>
          <a:xfrm>
            <a:off x="1685255" y="2175607"/>
            <a:ext cx="2402560" cy="485902"/>
          </a:xfrm>
          <a:prstGeom prst="rect">
            <a:avLst/>
          </a:prstGeom>
          <a:noFill/>
          <a:ln/>
        </p:spPr>
        <p:txBody>
          <a:bodyPr wrap="square" lIns="127508" tIns="127508" rIns="127508" bIns="127508" rtlCol="0" anchor="t">
            <a:spAutoFit/>
          </a:bodyPr>
          <a:lstStyle/>
          <a:p>
            <a:pPr marL="0" indent="0" algn="l">
              <a:lnSpc>
                <a:spcPct val="112000"/>
              </a:lnSpc>
              <a:buNone/>
            </a:pPr>
            <a:r>
              <a:rPr lang="en-US" sz="1400" dirty="0">
                <a:solidFill>
                  <a:srgbClr val="34495E"/>
                </a:solidFill>
                <a:latin typeface="Inter" pitchFamily="34" charset="0"/>
                <a:ea typeface="Inter" pitchFamily="34" charset="-122"/>
                <a:cs typeface="Inter" pitchFamily="34" charset="-120"/>
              </a:rPr>
              <a:t>48 ADHD, 52 ADD, 44 Healthy</a:t>
            </a:r>
            <a:endParaRPr lang="en-US" sz="1400" dirty="0"/>
          </a:p>
        </p:txBody>
      </p:sp>
      <p:sp>
        <p:nvSpPr>
          <p:cNvPr id="24" name="Text 21"/>
          <p:cNvSpPr/>
          <p:nvPr/>
        </p:nvSpPr>
        <p:spPr>
          <a:xfrm>
            <a:off x="4087816" y="2175607"/>
            <a:ext cx="2124819" cy="727187"/>
          </a:xfrm>
          <a:prstGeom prst="rect">
            <a:avLst/>
          </a:prstGeom>
          <a:noFill/>
          <a:ln/>
        </p:spPr>
        <p:txBody>
          <a:bodyPr wrap="square" lIns="127508" tIns="127508" rIns="127508" bIns="127508" rtlCol="0" anchor="t">
            <a:spAutoFit/>
          </a:bodyPr>
          <a:lstStyle/>
          <a:p>
            <a:pPr marL="0" indent="0" algn="l">
              <a:lnSpc>
                <a:spcPct val="112000"/>
              </a:lnSpc>
              <a:buNone/>
            </a:pPr>
            <a:r>
              <a:rPr lang="en-US" sz="1400" dirty="0">
                <a:solidFill>
                  <a:srgbClr val="34495E"/>
                </a:solidFill>
                <a:latin typeface="Inter" pitchFamily="34" charset="0"/>
                <a:ea typeface="Inter" pitchFamily="34" charset="-122"/>
                <a:cs typeface="Inter" pitchFamily="34" charset="-120"/>
              </a:rPr>
              <a:t>30 ADHD, 30 Neurotypical</a:t>
            </a:r>
            <a:endParaRPr lang="en-US" sz="1400" dirty="0"/>
          </a:p>
        </p:txBody>
      </p:sp>
      <p:sp>
        <p:nvSpPr>
          <p:cNvPr id="25" name="Text 22"/>
          <p:cNvSpPr/>
          <p:nvPr/>
        </p:nvSpPr>
        <p:spPr>
          <a:xfrm>
            <a:off x="6212635" y="2175607"/>
            <a:ext cx="2499168" cy="727187"/>
          </a:xfrm>
          <a:prstGeom prst="rect">
            <a:avLst/>
          </a:prstGeom>
          <a:noFill/>
          <a:ln/>
        </p:spPr>
        <p:txBody>
          <a:bodyPr wrap="square" lIns="127508" tIns="127508" rIns="127508" bIns="127508" rtlCol="0" anchor="t">
            <a:spAutoFit/>
          </a:bodyPr>
          <a:lstStyle/>
          <a:p>
            <a:pPr marL="0" indent="0" algn="l">
              <a:lnSpc>
                <a:spcPct val="112000"/>
              </a:lnSpc>
              <a:buNone/>
            </a:pPr>
            <a:r>
              <a:rPr lang="en-US" sz="1400" dirty="0">
                <a:solidFill>
                  <a:srgbClr val="34495E"/>
                </a:solidFill>
                <a:latin typeface="Inter" pitchFamily="34" charset="0"/>
                <a:ea typeface="Inter" pitchFamily="34" charset="-122"/>
                <a:cs typeface="Inter" pitchFamily="34" charset="-120"/>
              </a:rPr>
              <a:t>61 ADHD, 60 Healthy (ADHD Set)</a:t>
            </a:r>
            <a:endParaRPr lang="en-US" sz="1400" dirty="0"/>
          </a:p>
        </p:txBody>
      </p:sp>
      <p:sp>
        <p:nvSpPr>
          <p:cNvPr id="26" name="Shape 23"/>
          <p:cNvSpPr/>
          <p:nvPr/>
        </p:nvSpPr>
        <p:spPr>
          <a:xfrm>
            <a:off x="432197" y="2557072"/>
            <a:ext cx="8279606" cy="381465"/>
          </a:xfrm>
          <a:prstGeom prst="rect">
            <a:avLst/>
          </a:prstGeom>
          <a:solidFill>
            <a:srgbClr val="F2F2F2"/>
          </a:solidFill>
          <a:ln/>
        </p:spPr>
      </p:sp>
      <p:sp>
        <p:nvSpPr>
          <p:cNvPr id="27" name="Text 24"/>
          <p:cNvSpPr/>
          <p:nvPr/>
        </p:nvSpPr>
        <p:spPr>
          <a:xfrm>
            <a:off x="432197" y="2557072"/>
            <a:ext cx="1253058" cy="485902"/>
          </a:xfrm>
          <a:prstGeom prst="rect">
            <a:avLst/>
          </a:prstGeom>
          <a:noFill/>
          <a:ln/>
        </p:spPr>
        <p:txBody>
          <a:bodyPr wrap="square" lIns="127508" tIns="127508" rIns="127508" bIns="127508" rtlCol="0" anchor="t">
            <a:spAutoFit/>
          </a:bodyPr>
          <a:lstStyle/>
          <a:p>
            <a:pPr marL="0" indent="0" algn="l">
              <a:lnSpc>
                <a:spcPct val="112000"/>
              </a:lnSpc>
              <a:buNone/>
            </a:pPr>
            <a:r>
              <a:rPr lang="en-US" sz="1400" b="1" dirty="0">
                <a:solidFill>
                  <a:srgbClr val="2C3E50"/>
                </a:solidFill>
                <a:latin typeface="Inter Bold" pitchFamily="34" charset="0"/>
                <a:ea typeface="Inter Bold" pitchFamily="34" charset="-122"/>
                <a:cs typeface="Inter Bold" pitchFamily="34" charset="-120"/>
              </a:rPr>
              <a:t>EEG Channels</a:t>
            </a:r>
            <a:endParaRPr lang="en-US" sz="1400" dirty="0"/>
          </a:p>
        </p:txBody>
      </p:sp>
      <p:sp>
        <p:nvSpPr>
          <p:cNvPr id="28" name="Text 25"/>
          <p:cNvSpPr/>
          <p:nvPr/>
        </p:nvSpPr>
        <p:spPr>
          <a:xfrm>
            <a:off x="1685255" y="2557072"/>
            <a:ext cx="2402560" cy="485902"/>
          </a:xfrm>
          <a:prstGeom prst="rect">
            <a:avLst/>
          </a:prstGeom>
          <a:noFill/>
          <a:ln/>
        </p:spPr>
        <p:txBody>
          <a:bodyPr wrap="square" lIns="127508" tIns="127508" rIns="127508" bIns="127508" rtlCol="0" anchor="t">
            <a:spAutoFit/>
          </a:bodyPr>
          <a:lstStyle/>
          <a:p>
            <a:pPr marL="0" indent="0" algn="l">
              <a:lnSpc>
                <a:spcPct val="112000"/>
              </a:lnSpc>
              <a:buNone/>
            </a:pPr>
            <a:r>
              <a:rPr lang="en-US" sz="1400" dirty="0">
                <a:solidFill>
                  <a:srgbClr val="34495E"/>
                </a:solidFill>
                <a:latin typeface="Inter" pitchFamily="34" charset="0"/>
                <a:ea typeface="Inter" pitchFamily="34" charset="-122"/>
                <a:cs typeface="Inter" pitchFamily="34" charset="-120"/>
              </a:rPr>
              <a:t>56 Channels</a:t>
            </a:r>
            <a:endParaRPr lang="en-US" sz="1400" dirty="0"/>
          </a:p>
        </p:txBody>
      </p:sp>
      <p:sp>
        <p:nvSpPr>
          <p:cNvPr id="29" name="Text 26"/>
          <p:cNvSpPr/>
          <p:nvPr/>
        </p:nvSpPr>
        <p:spPr>
          <a:xfrm>
            <a:off x="4087816" y="2557072"/>
            <a:ext cx="2124819" cy="485902"/>
          </a:xfrm>
          <a:prstGeom prst="rect">
            <a:avLst/>
          </a:prstGeom>
          <a:noFill/>
          <a:ln/>
        </p:spPr>
        <p:txBody>
          <a:bodyPr wrap="square" lIns="127508" tIns="127508" rIns="127508" bIns="127508" rtlCol="0" anchor="t">
            <a:spAutoFit/>
          </a:bodyPr>
          <a:lstStyle/>
          <a:p>
            <a:pPr marL="0" indent="0" algn="l">
              <a:lnSpc>
                <a:spcPct val="112000"/>
              </a:lnSpc>
              <a:buNone/>
            </a:pPr>
            <a:r>
              <a:rPr lang="en-US" sz="1400" dirty="0">
                <a:solidFill>
                  <a:srgbClr val="34495E"/>
                </a:solidFill>
                <a:latin typeface="Inter" pitchFamily="34" charset="0"/>
                <a:ea typeface="Inter" pitchFamily="34" charset="-122"/>
                <a:cs typeface="Inter" pitchFamily="34" charset="-120"/>
              </a:rPr>
              <a:t>Portable Wireless Device</a:t>
            </a:r>
            <a:endParaRPr lang="en-US" sz="1400" dirty="0"/>
          </a:p>
        </p:txBody>
      </p:sp>
      <p:sp>
        <p:nvSpPr>
          <p:cNvPr id="30" name="Text 27"/>
          <p:cNvSpPr/>
          <p:nvPr/>
        </p:nvSpPr>
        <p:spPr>
          <a:xfrm>
            <a:off x="6212635" y="2557072"/>
            <a:ext cx="2499168" cy="727187"/>
          </a:xfrm>
          <a:prstGeom prst="rect">
            <a:avLst/>
          </a:prstGeom>
          <a:noFill/>
          <a:ln/>
        </p:spPr>
        <p:txBody>
          <a:bodyPr wrap="square" lIns="127508" tIns="127508" rIns="127508" bIns="127508" rtlCol="0" anchor="t">
            <a:spAutoFit/>
          </a:bodyPr>
          <a:lstStyle/>
          <a:p>
            <a:pPr marL="0" indent="0" algn="l">
              <a:lnSpc>
                <a:spcPct val="112000"/>
              </a:lnSpc>
              <a:buNone/>
            </a:pPr>
            <a:r>
              <a:rPr lang="en-US" sz="1400" dirty="0">
                <a:solidFill>
                  <a:srgbClr val="34495E"/>
                </a:solidFill>
                <a:latin typeface="Inter" pitchFamily="34" charset="0"/>
                <a:ea typeface="Inter" pitchFamily="34" charset="-122"/>
                <a:cs typeface="Inter" pitchFamily="34" charset="-120"/>
              </a:rPr>
              <a:t>19 Channels (ADHD) / 14 (FOCUS)</a:t>
            </a:r>
            <a:endParaRPr lang="en-US" sz="1400" dirty="0"/>
          </a:p>
        </p:txBody>
      </p:sp>
      <p:sp>
        <p:nvSpPr>
          <p:cNvPr id="31" name="Text 28"/>
          <p:cNvSpPr/>
          <p:nvPr/>
        </p:nvSpPr>
        <p:spPr>
          <a:xfrm>
            <a:off x="432196" y="2938537"/>
            <a:ext cx="1432889" cy="485902"/>
          </a:xfrm>
          <a:prstGeom prst="rect">
            <a:avLst/>
          </a:prstGeom>
          <a:noFill/>
          <a:ln/>
        </p:spPr>
        <p:txBody>
          <a:bodyPr wrap="square" lIns="127508" tIns="127508" rIns="127508" bIns="127508" rtlCol="0" anchor="t">
            <a:spAutoFit/>
          </a:bodyPr>
          <a:lstStyle/>
          <a:p>
            <a:pPr marL="0" indent="0" algn="l">
              <a:lnSpc>
                <a:spcPct val="112000"/>
              </a:lnSpc>
              <a:buNone/>
            </a:pPr>
            <a:r>
              <a:rPr lang="en-US" sz="1400" b="1" dirty="0">
                <a:solidFill>
                  <a:srgbClr val="2C3E50"/>
                </a:solidFill>
                <a:latin typeface="Inter Bold" pitchFamily="34" charset="0"/>
                <a:ea typeface="Inter Bold" pitchFamily="34" charset="-122"/>
                <a:cs typeface="Inter Bold" pitchFamily="34" charset="-120"/>
              </a:rPr>
              <a:t>Preprocessing</a:t>
            </a:r>
            <a:endParaRPr lang="en-US" sz="1400" dirty="0"/>
          </a:p>
        </p:txBody>
      </p:sp>
      <p:sp>
        <p:nvSpPr>
          <p:cNvPr id="32" name="Text 29"/>
          <p:cNvSpPr/>
          <p:nvPr/>
        </p:nvSpPr>
        <p:spPr>
          <a:xfrm>
            <a:off x="1685255" y="2938537"/>
            <a:ext cx="2402560" cy="485902"/>
          </a:xfrm>
          <a:prstGeom prst="rect">
            <a:avLst/>
          </a:prstGeom>
          <a:noFill/>
          <a:ln/>
        </p:spPr>
        <p:txBody>
          <a:bodyPr wrap="square" lIns="127508" tIns="127508" rIns="127508" bIns="127508" rtlCol="0" anchor="t">
            <a:spAutoFit/>
          </a:bodyPr>
          <a:lstStyle/>
          <a:p>
            <a:pPr marL="0" indent="0" algn="l">
              <a:lnSpc>
                <a:spcPct val="112000"/>
              </a:lnSpc>
              <a:buNone/>
            </a:pPr>
            <a:r>
              <a:rPr lang="en-US" sz="1400" dirty="0">
                <a:solidFill>
                  <a:srgbClr val="34495E"/>
                </a:solidFill>
                <a:latin typeface="Inter" pitchFamily="34" charset="0"/>
                <a:ea typeface="Inter" pitchFamily="34" charset="-122"/>
                <a:cs typeface="Inter" pitchFamily="34" charset="-120"/>
              </a:rPr>
              <a:t>ICA for noise removal</a:t>
            </a:r>
            <a:endParaRPr lang="en-US" sz="1400" dirty="0"/>
          </a:p>
        </p:txBody>
      </p:sp>
      <p:sp>
        <p:nvSpPr>
          <p:cNvPr id="33" name="Text 30"/>
          <p:cNvSpPr/>
          <p:nvPr/>
        </p:nvSpPr>
        <p:spPr>
          <a:xfrm>
            <a:off x="4087816" y="2938537"/>
            <a:ext cx="2402560" cy="485902"/>
          </a:xfrm>
          <a:prstGeom prst="rect">
            <a:avLst/>
          </a:prstGeom>
          <a:noFill/>
          <a:ln/>
        </p:spPr>
        <p:txBody>
          <a:bodyPr wrap="square" lIns="127508" tIns="127508" rIns="127508" bIns="127508" rtlCol="0" anchor="t">
            <a:spAutoFit/>
          </a:bodyPr>
          <a:lstStyle/>
          <a:p>
            <a:pPr marL="0" indent="0" algn="l">
              <a:lnSpc>
                <a:spcPct val="112000"/>
              </a:lnSpc>
              <a:buNone/>
            </a:pPr>
            <a:r>
              <a:rPr lang="en-US" sz="1400" dirty="0">
                <a:solidFill>
                  <a:srgbClr val="34495E"/>
                </a:solidFill>
                <a:latin typeface="Inter" pitchFamily="34" charset="0"/>
                <a:ea typeface="Inter" pitchFamily="34" charset="-122"/>
                <a:cs typeface="Inter" pitchFamily="34" charset="-120"/>
              </a:rPr>
              <a:t>Standard clinical processing</a:t>
            </a:r>
            <a:endParaRPr lang="en-US" sz="1400" dirty="0"/>
          </a:p>
        </p:txBody>
      </p:sp>
      <p:sp>
        <p:nvSpPr>
          <p:cNvPr id="34" name="Text 31"/>
          <p:cNvSpPr/>
          <p:nvPr/>
        </p:nvSpPr>
        <p:spPr>
          <a:xfrm>
            <a:off x="6212635" y="2938537"/>
            <a:ext cx="2786222" cy="485902"/>
          </a:xfrm>
          <a:prstGeom prst="rect">
            <a:avLst/>
          </a:prstGeom>
          <a:noFill/>
          <a:ln/>
        </p:spPr>
        <p:txBody>
          <a:bodyPr wrap="square" lIns="127508" tIns="127508" rIns="127508" bIns="127508" rtlCol="0" anchor="t">
            <a:spAutoFit/>
          </a:bodyPr>
          <a:lstStyle/>
          <a:p>
            <a:pPr marL="0" indent="0" algn="l">
              <a:lnSpc>
                <a:spcPct val="112000"/>
              </a:lnSpc>
              <a:buNone/>
            </a:pPr>
            <a:r>
              <a:rPr lang="en-US" sz="1400" dirty="0">
                <a:solidFill>
                  <a:srgbClr val="34495E"/>
                </a:solidFill>
                <a:latin typeface="Inter" pitchFamily="34" charset="0"/>
                <a:ea typeface="Inter" pitchFamily="34" charset="-122"/>
                <a:cs typeface="Inter" pitchFamily="34" charset="-120"/>
              </a:rPr>
              <a:t>ICA (90% threshold), FIR Filtering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0" y="285750"/>
            <a:ext cx="9144000" cy="215444"/>
          </a:xfrm>
          <a:prstGeom prst="rect">
            <a:avLst/>
          </a:prstGeom>
          <a:noFill/>
          <a:ln/>
        </p:spPr>
        <p:txBody>
          <a:bodyPr wrap="square" lIns="0" tIns="0" rIns="0" bIns="0" rtlCol="0" anchor="t">
            <a:spAutoFit/>
          </a:bodyPr>
          <a:lstStyle/>
          <a:p>
            <a:pPr marL="0" indent="0" algn="ctr">
              <a:buNone/>
            </a:pPr>
            <a:r>
              <a:rPr lang="en-US" sz="1400" b="1" dirty="0">
                <a:solidFill>
                  <a:srgbClr val="2C3E50"/>
                </a:solidFill>
                <a:latin typeface="Inter Bold" pitchFamily="34" charset="0"/>
                <a:ea typeface="Inter Bold" pitchFamily="34" charset="-122"/>
                <a:cs typeface="Inter Bold" pitchFamily="34" charset="-120"/>
              </a:rPr>
              <a:t>Comparative Analysis: Performance Metrics</a:t>
            </a:r>
            <a:endParaRPr lang="en-US" sz="1400" dirty="0"/>
          </a:p>
        </p:txBody>
      </p:sp>
      <p:pic>
        <p:nvPicPr>
          <p:cNvPr id="4" name="Image 1" descr="preencoded.png"/>
          <p:cNvPicPr>
            <a:picLocks noChangeAspect="1"/>
          </p:cNvPicPr>
          <p:nvPr/>
        </p:nvPicPr>
        <p:blipFill>
          <a:blip r:embed="rId4"/>
          <a:stretch>
            <a:fillRect/>
          </a:stretch>
        </p:blipFill>
        <p:spPr>
          <a:xfrm>
            <a:off x="1357313" y="762595"/>
            <a:ext cx="6429375" cy="2143125"/>
          </a:xfrm>
          <a:prstGeom prst="rect">
            <a:avLst/>
          </a:prstGeom>
        </p:spPr>
      </p:pic>
      <p:sp>
        <p:nvSpPr>
          <p:cNvPr id="5" name="Shape 1"/>
          <p:cNvSpPr/>
          <p:nvPr/>
        </p:nvSpPr>
        <p:spPr>
          <a:xfrm>
            <a:off x="1003697" y="3195042"/>
            <a:ext cx="1676074" cy="310753"/>
          </a:xfrm>
          <a:prstGeom prst="rect">
            <a:avLst/>
          </a:prstGeom>
          <a:solidFill>
            <a:srgbClr val="2C3E50"/>
          </a:solidFill>
          <a:ln w="9144">
            <a:solidFill>
              <a:srgbClr val="BDC3C7"/>
            </a:solidFill>
            <a:prstDash val="solid"/>
          </a:ln>
        </p:spPr>
      </p:sp>
      <p:sp>
        <p:nvSpPr>
          <p:cNvPr id="6" name="Text 2"/>
          <p:cNvSpPr/>
          <p:nvPr/>
        </p:nvSpPr>
        <p:spPr>
          <a:xfrm>
            <a:off x="1003697" y="3031870"/>
            <a:ext cx="1676074" cy="637097"/>
          </a:xfrm>
          <a:prstGeom prst="rect">
            <a:avLst/>
          </a:prstGeom>
          <a:noFill/>
          <a:ln/>
        </p:spPr>
        <p:txBody>
          <a:bodyPr wrap="square" lIns="102108" tIns="102108" rIns="102108" bIns="102108" rtlCol="0" anchor="ctr">
            <a:spAutoFit/>
          </a:bodyPr>
          <a:lstStyle/>
          <a:p>
            <a:pPr marL="0" indent="0" algn="l">
              <a:buNone/>
            </a:pPr>
            <a:r>
              <a:rPr lang="en-US" sz="1400" b="1" dirty="0">
                <a:solidFill>
                  <a:srgbClr val="F8F8F8"/>
                </a:solidFill>
                <a:latin typeface="Inter Bold" pitchFamily="34" charset="0"/>
                <a:ea typeface="Inter Bold" pitchFamily="34" charset="-122"/>
                <a:cs typeface="Inter Bold" pitchFamily="34" charset="-120"/>
              </a:rPr>
              <a:t>Model Architecture</a:t>
            </a:r>
            <a:endParaRPr lang="en-US" sz="1400" dirty="0"/>
          </a:p>
        </p:txBody>
      </p:sp>
      <p:sp>
        <p:nvSpPr>
          <p:cNvPr id="7" name="Shape 3"/>
          <p:cNvSpPr/>
          <p:nvPr/>
        </p:nvSpPr>
        <p:spPr>
          <a:xfrm>
            <a:off x="2675976" y="3195042"/>
            <a:ext cx="2132688" cy="310753"/>
          </a:xfrm>
          <a:prstGeom prst="rect">
            <a:avLst/>
          </a:prstGeom>
          <a:solidFill>
            <a:srgbClr val="2C3E50"/>
          </a:solidFill>
          <a:ln w="9144">
            <a:solidFill>
              <a:srgbClr val="BDC3C7"/>
            </a:solidFill>
            <a:prstDash val="solid"/>
          </a:ln>
        </p:spPr>
      </p:sp>
      <p:sp>
        <p:nvSpPr>
          <p:cNvPr id="8" name="Text 4"/>
          <p:cNvSpPr/>
          <p:nvPr/>
        </p:nvSpPr>
        <p:spPr>
          <a:xfrm>
            <a:off x="2675976" y="3139592"/>
            <a:ext cx="2132688" cy="421654"/>
          </a:xfrm>
          <a:prstGeom prst="rect">
            <a:avLst/>
          </a:prstGeom>
          <a:noFill/>
          <a:ln/>
        </p:spPr>
        <p:txBody>
          <a:bodyPr wrap="square" lIns="102108" tIns="102108" rIns="102108" bIns="102108" rtlCol="0" anchor="ctr">
            <a:spAutoFit/>
          </a:bodyPr>
          <a:lstStyle/>
          <a:p>
            <a:pPr marL="0" indent="0" algn="l">
              <a:buNone/>
            </a:pPr>
            <a:r>
              <a:rPr lang="en-US" sz="1400" b="1" dirty="0">
                <a:solidFill>
                  <a:srgbClr val="F8F8F8"/>
                </a:solidFill>
                <a:latin typeface="Inter Bold" pitchFamily="34" charset="0"/>
                <a:ea typeface="Inter Bold" pitchFamily="34" charset="-122"/>
                <a:cs typeface="Inter Bold" pitchFamily="34" charset="-120"/>
              </a:rPr>
              <a:t>Primary Dataset</a:t>
            </a:r>
            <a:endParaRPr lang="en-US" sz="1400" dirty="0"/>
          </a:p>
        </p:txBody>
      </p:sp>
      <p:sp>
        <p:nvSpPr>
          <p:cNvPr id="9" name="Shape 5"/>
          <p:cNvSpPr/>
          <p:nvPr/>
        </p:nvSpPr>
        <p:spPr>
          <a:xfrm>
            <a:off x="4806348" y="3195042"/>
            <a:ext cx="1252696" cy="310753"/>
          </a:xfrm>
          <a:prstGeom prst="rect">
            <a:avLst/>
          </a:prstGeom>
          <a:solidFill>
            <a:srgbClr val="2C3E50"/>
          </a:solidFill>
          <a:ln w="9144">
            <a:solidFill>
              <a:srgbClr val="BDC3C7"/>
            </a:solidFill>
            <a:prstDash val="solid"/>
          </a:ln>
        </p:spPr>
      </p:sp>
      <p:sp>
        <p:nvSpPr>
          <p:cNvPr id="10" name="Text 6"/>
          <p:cNvSpPr/>
          <p:nvPr/>
        </p:nvSpPr>
        <p:spPr>
          <a:xfrm>
            <a:off x="4806348" y="3139592"/>
            <a:ext cx="1319528" cy="421654"/>
          </a:xfrm>
          <a:prstGeom prst="rect">
            <a:avLst/>
          </a:prstGeom>
          <a:noFill/>
          <a:ln/>
        </p:spPr>
        <p:txBody>
          <a:bodyPr wrap="none" lIns="102108" tIns="102108" rIns="102108" bIns="102108" rtlCol="0" anchor="ctr">
            <a:spAutoFit/>
          </a:bodyPr>
          <a:lstStyle/>
          <a:p>
            <a:pPr marL="0" indent="0" algn="l">
              <a:buNone/>
            </a:pPr>
            <a:r>
              <a:rPr lang="en-US" sz="1400" b="1" dirty="0">
                <a:solidFill>
                  <a:srgbClr val="F8F8F8"/>
                </a:solidFill>
                <a:latin typeface="Inter Bold" pitchFamily="34" charset="0"/>
                <a:ea typeface="Inter Bold" pitchFamily="34" charset="-122"/>
                <a:cs typeface="Inter Bold" pitchFamily="34" charset="-120"/>
              </a:rPr>
              <a:t>Accuracy (%)</a:t>
            </a:r>
            <a:endParaRPr lang="en-US" sz="1400" dirty="0"/>
          </a:p>
        </p:txBody>
      </p:sp>
      <p:sp>
        <p:nvSpPr>
          <p:cNvPr id="11" name="Shape 7"/>
          <p:cNvSpPr/>
          <p:nvPr/>
        </p:nvSpPr>
        <p:spPr>
          <a:xfrm>
            <a:off x="6057621" y="3195042"/>
            <a:ext cx="2082682" cy="310753"/>
          </a:xfrm>
          <a:prstGeom prst="rect">
            <a:avLst/>
          </a:prstGeom>
          <a:solidFill>
            <a:srgbClr val="2C3E50"/>
          </a:solidFill>
          <a:ln w="9144">
            <a:solidFill>
              <a:srgbClr val="BDC3C7"/>
            </a:solidFill>
            <a:prstDash val="solid"/>
          </a:ln>
        </p:spPr>
      </p:sp>
      <p:sp>
        <p:nvSpPr>
          <p:cNvPr id="12" name="Text 8"/>
          <p:cNvSpPr/>
          <p:nvPr/>
        </p:nvSpPr>
        <p:spPr>
          <a:xfrm>
            <a:off x="6057621" y="3139592"/>
            <a:ext cx="2082682" cy="421654"/>
          </a:xfrm>
          <a:prstGeom prst="rect">
            <a:avLst/>
          </a:prstGeom>
          <a:noFill/>
          <a:ln/>
        </p:spPr>
        <p:txBody>
          <a:bodyPr wrap="square" lIns="102108" tIns="102108" rIns="102108" bIns="102108" rtlCol="0" anchor="ctr">
            <a:spAutoFit/>
          </a:bodyPr>
          <a:lstStyle/>
          <a:p>
            <a:pPr marL="0" indent="0" algn="l">
              <a:buNone/>
            </a:pPr>
            <a:r>
              <a:rPr lang="en-US" sz="1400" b="1" dirty="0">
                <a:solidFill>
                  <a:srgbClr val="F8F8F8"/>
                </a:solidFill>
                <a:latin typeface="Inter Bold" pitchFamily="34" charset="0"/>
                <a:ea typeface="Inter Bold" pitchFamily="34" charset="-122"/>
                <a:cs typeface="Inter Bold" pitchFamily="34" charset="-120"/>
              </a:rPr>
              <a:t>AUC / Other Metrics</a:t>
            </a:r>
            <a:endParaRPr lang="en-US" sz="1400" dirty="0"/>
          </a:p>
        </p:txBody>
      </p:sp>
      <p:sp>
        <p:nvSpPr>
          <p:cNvPr id="13" name="Shape 9"/>
          <p:cNvSpPr/>
          <p:nvPr/>
        </p:nvSpPr>
        <p:spPr>
          <a:xfrm>
            <a:off x="1003697" y="3498652"/>
            <a:ext cx="1670828" cy="310753"/>
          </a:xfrm>
          <a:prstGeom prst="rect">
            <a:avLst/>
          </a:prstGeom>
          <a:solidFill>
            <a:srgbClr val="FFFFFF"/>
          </a:solidFill>
          <a:ln w="9144">
            <a:solidFill>
              <a:srgbClr val="BDC3C7"/>
            </a:solidFill>
            <a:prstDash val="solid"/>
          </a:ln>
        </p:spPr>
      </p:sp>
      <p:sp>
        <p:nvSpPr>
          <p:cNvPr id="14" name="Text 10"/>
          <p:cNvSpPr/>
          <p:nvPr/>
        </p:nvSpPr>
        <p:spPr>
          <a:xfrm>
            <a:off x="1003697" y="3443202"/>
            <a:ext cx="1670828" cy="421654"/>
          </a:xfrm>
          <a:prstGeom prst="rect">
            <a:avLst/>
          </a:prstGeom>
          <a:noFill/>
          <a:ln/>
        </p:spPr>
        <p:txBody>
          <a:bodyPr wrap="square" lIns="102108" tIns="102108" rIns="102108" bIns="102108" rtlCol="0" anchor="ctr">
            <a:spAutoFit/>
          </a:bodyPr>
          <a:lstStyle/>
          <a:p>
            <a:pPr marL="0" indent="0" algn="l">
              <a:buNone/>
            </a:pPr>
            <a:r>
              <a:rPr lang="en-US" sz="1400" dirty="0">
                <a:solidFill>
                  <a:srgbClr val="34495E"/>
                </a:solidFill>
                <a:latin typeface="Inter" pitchFamily="34" charset="0"/>
                <a:ea typeface="Inter" pitchFamily="34" charset="-122"/>
                <a:cs typeface="Inter" pitchFamily="34" charset="-120"/>
              </a:rPr>
              <a:t>EEG-Transformer</a:t>
            </a:r>
            <a:endParaRPr lang="en-US" sz="1400" dirty="0"/>
          </a:p>
        </p:txBody>
      </p:sp>
      <p:sp>
        <p:nvSpPr>
          <p:cNvPr id="15" name="Shape 11"/>
          <p:cNvSpPr/>
          <p:nvPr/>
        </p:nvSpPr>
        <p:spPr>
          <a:xfrm>
            <a:off x="2674525" y="3498652"/>
            <a:ext cx="2137125" cy="310753"/>
          </a:xfrm>
          <a:prstGeom prst="rect">
            <a:avLst/>
          </a:prstGeom>
          <a:solidFill>
            <a:srgbClr val="FFFFFF"/>
          </a:solidFill>
          <a:ln w="9144">
            <a:solidFill>
              <a:srgbClr val="BDC3C7"/>
            </a:solidFill>
            <a:prstDash val="solid"/>
          </a:ln>
        </p:spPr>
      </p:sp>
      <p:sp>
        <p:nvSpPr>
          <p:cNvPr id="16" name="Text 12"/>
          <p:cNvSpPr/>
          <p:nvPr/>
        </p:nvSpPr>
        <p:spPr>
          <a:xfrm>
            <a:off x="2674525" y="3443202"/>
            <a:ext cx="2137125" cy="421654"/>
          </a:xfrm>
          <a:prstGeom prst="rect">
            <a:avLst/>
          </a:prstGeom>
          <a:noFill/>
          <a:ln/>
        </p:spPr>
        <p:txBody>
          <a:bodyPr wrap="square" lIns="102108" tIns="102108" rIns="102108" bIns="102108" rtlCol="0" anchor="ctr">
            <a:spAutoFit/>
          </a:bodyPr>
          <a:lstStyle/>
          <a:p>
            <a:pPr marL="0" indent="0" algn="l">
              <a:buNone/>
            </a:pPr>
            <a:r>
              <a:rPr lang="en-US" sz="1400" dirty="0">
                <a:solidFill>
                  <a:srgbClr val="34495E"/>
                </a:solidFill>
                <a:latin typeface="Inter" pitchFamily="34" charset="0"/>
                <a:ea typeface="Inter" pitchFamily="34" charset="-122"/>
                <a:cs typeface="Inter" pitchFamily="34" charset="-120"/>
              </a:rPr>
              <a:t>Dresden (144 subjects)</a:t>
            </a:r>
            <a:endParaRPr lang="en-US" sz="1400" dirty="0"/>
          </a:p>
        </p:txBody>
      </p:sp>
      <p:sp>
        <p:nvSpPr>
          <p:cNvPr id="17" name="Shape 13"/>
          <p:cNvSpPr/>
          <p:nvPr/>
        </p:nvSpPr>
        <p:spPr>
          <a:xfrm>
            <a:off x="4811650" y="3498652"/>
            <a:ext cx="1244519" cy="310753"/>
          </a:xfrm>
          <a:prstGeom prst="rect">
            <a:avLst/>
          </a:prstGeom>
          <a:solidFill>
            <a:srgbClr val="FFFFFF"/>
          </a:solidFill>
          <a:ln w="9144">
            <a:solidFill>
              <a:srgbClr val="BDC3C7"/>
            </a:solidFill>
            <a:prstDash val="solid"/>
          </a:ln>
        </p:spPr>
      </p:sp>
      <p:sp>
        <p:nvSpPr>
          <p:cNvPr id="18" name="Text 14"/>
          <p:cNvSpPr/>
          <p:nvPr/>
        </p:nvSpPr>
        <p:spPr>
          <a:xfrm>
            <a:off x="4811650" y="3443202"/>
            <a:ext cx="744819" cy="421654"/>
          </a:xfrm>
          <a:prstGeom prst="rect">
            <a:avLst/>
          </a:prstGeom>
          <a:noFill/>
          <a:ln/>
        </p:spPr>
        <p:txBody>
          <a:bodyPr wrap="none" lIns="102108" tIns="102108" rIns="102108" bIns="102108" rtlCol="0" anchor="ctr">
            <a:spAutoFit/>
          </a:bodyPr>
          <a:lstStyle/>
          <a:p>
            <a:pPr marL="0" indent="0" algn="l">
              <a:buNone/>
            </a:pPr>
            <a:r>
              <a:rPr lang="en-US" sz="1400" dirty="0">
                <a:solidFill>
                  <a:srgbClr val="34495E"/>
                </a:solidFill>
                <a:latin typeface="Inter" pitchFamily="34" charset="0"/>
                <a:ea typeface="Inter" pitchFamily="34" charset="-122"/>
                <a:cs typeface="Inter" pitchFamily="34" charset="-120"/>
              </a:rPr>
              <a:t>95.85%</a:t>
            </a:r>
            <a:endParaRPr lang="en-US" sz="1400" dirty="0"/>
          </a:p>
        </p:txBody>
      </p:sp>
      <p:sp>
        <p:nvSpPr>
          <p:cNvPr id="19" name="Shape 15"/>
          <p:cNvSpPr/>
          <p:nvPr/>
        </p:nvSpPr>
        <p:spPr>
          <a:xfrm>
            <a:off x="6056170" y="3498652"/>
            <a:ext cx="2084133" cy="310753"/>
          </a:xfrm>
          <a:prstGeom prst="rect">
            <a:avLst/>
          </a:prstGeom>
          <a:solidFill>
            <a:srgbClr val="FFFFFF"/>
          </a:solidFill>
          <a:ln w="9144">
            <a:solidFill>
              <a:srgbClr val="BDC3C7"/>
            </a:solidFill>
            <a:prstDash val="solid"/>
          </a:ln>
        </p:spPr>
      </p:sp>
      <p:sp>
        <p:nvSpPr>
          <p:cNvPr id="20" name="Text 16"/>
          <p:cNvSpPr/>
          <p:nvPr/>
        </p:nvSpPr>
        <p:spPr>
          <a:xfrm>
            <a:off x="6056170" y="3443202"/>
            <a:ext cx="2084133" cy="421654"/>
          </a:xfrm>
          <a:prstGeom prst="rect">
            <a:avLst/>
          </a:prstGeom>
          <a:noFill/>
          <a:ln/>
        </p:spPr>
        <p:txBody>
          <a:bodyPr wrap="square" lIns="102108" tIns="102108" rIns="102108" bIns="102108" rtlCol="0" anchor="ctr">
            <a:spAutoFit/>
          </a:bodyPr>
          <a:lstStyle/>
          <a:p>
            <a:pPr marL="0" indent="0" algn="l">
              <a:buNone/>
            </a:pPr>
            <a:r>
              <a:rPr lang="en-US" sz="1400" dirty="0">
                <a:solidFill>
                  <a:srgbClr val="34495E"/>
                </a:solidFill>
                <a:latin typeface="Inter" pitchFamily="34" charset="0"/>
                <a:ea typeface="Inter" pitchFamily="34" charset="-122"/>
                <a:cs typeface="Inter" pitchFamily="34" charset="-120"/>
              </a:rPr>
              <a:t>0.9926 AUC</a:t>
            </a:r>
            <a:endParaRPr lang="en-US" sz="1400" dirty="0"/>
          </a:p>
        </p:txBody>
      </p:sp>
      <p:sp>
        <p:nvSpPr>
          <p:cNvPr id="21" name="Shape 17"/>
          <p:cNvSpPr/>
          <p:nvPr/>
        </p:nvSpPr>
        <p:spPr>
          <a:xfrm>
            <a:off x="1003697" y="3802261"/>
            <a:ext cx="1670828" cy="310753"/>
          </a:xfrm>
          <a:prstGeom prst="rect">
            <a:avLst/>
          </a:prstGeom>
          <a:solidFill>
            <a:srgbClr val="ECF0F1"/>
          </a:solidFill>
          <a:ln w="9144">
            <a:solidFill>
              <a:srgbClr val="BDC3C7"/>
            </a:solidFill>
            <a:prstDash val="solid"/>
          </a:ln>
        </p:spPr>
      </p:sp>
      <p:sp>
        <p:nvSpPr>
          <p:cNvPr id="22" name="Text 18"/>
          <p:cNvSpPr/>
          <p:nvPr/>
        </p:nvSpPr>
        <p:spPr>
          <a:xfrm>
            <a:off x="1003697" y="3746811"/>
            <a:ext cx="1670828" cy="421654"/>
          </a:xfrm>
          <a:prstGeom prst="rect">
            <a:avLst/>
          </a:prstGeom>
          <a:noFill/>
          <a:ln/>
        </p:spPr>
        <p:txBody>
          <a:bodyPr wrap="square" lIns="102108" tIns="102108" rIns="102108" bIns="102108" rtlCol="0" anchor="ctr">
            <a:spAutoFit/>
          </a:bodyPr>
          <a:lstStyle/>
          <a:p>
            <a:pPr marL="0" indent="0" algn="l">
              <a:buNone/>
            </a:pPr>
            <a:r>
              <a:rPr lang="en-US" sz="1400" dirty="0">
                <a:solidFill>
                  <a:srgbClr val="34495E"/>
                </a:solidFill>
                <a:latin typeface="Inter" pitchFamily="34" charset="0"/>
                <a:ea typeface="Inter" pitchFamily="34" charset="-122"/>
                <a:cs typeface="Inter" pitchFamily="34" charset="-120"/>
              </a:rPr>
              <a:t>EEG-based LSTM</a:t>
            </a:r>
            <a:endParaRPr lang="en-US" sz="1400" dirty="0"/>
          </a:p>
        </p:txBody>
      </p:sp>
      <p:sp>
        <p:nvSpPr>
          <p:cNvPr id="23" name="Shape 19"/>
          <p:cNvSpPr/>
          <p:nvPr/>
        </p:nvSpPr>
        <p:spPr>
          <a:xfrm>
            <a:off x="2674525" y="3802261"/>
            <a:ext cx="2137125" cy="310753"/>
          </a:xfrm>
          <a:prstGeom prst="rect">
            <a:avLst/>
          </a:prstGeom>
          <a:solidFill>
            <a:srgbClr val="ECF0F1"/>
          </a:solidFill>
          <a:ln w="9144">
            <a:solidFill>
              <a:srgbClr val="BDC3C7"/>
            </a:solidFill>
            <a:prstDash val="solid"/>
          </a:ln>
        </p:spPr>
      </p:sp>
      <p:sp>
        <p:nvSpPr>
          <p:cNvPr id="24" name="Text 20"/>
          <p:cNvSpPr/>
          <p:nvPr/>
        </p:nvSpPr>
        <p:spPr>
          <a:xfrm>
            <a:off x="2674525" y="3746811"/>
            <a:ext cx="2137125" cy="421654"/>
          </a:xfrm>
          <a:prstGeom prst="rect">
            <a:avLst/>
          </a:prstGeom>
          <a:noFill/>
          <a:ln/>
        </p:spPr>
        <p:txBody>
          <a:bodyPr wrap="square" lIns="102108" tIns="102108" rIns="102108" bIns="102108" rtlCol="0" anchor="ctr">
            <a:spAutoFit/>
          </a:bodyPr>
          <a:lstStyle/>
          <a:p>
            <a:pPr marL="0" indent="0" algn="l">
              <a:buNone/>
            </a:pPr>
            <a:r>
              <a:rPr lang="en-US" sz="1400" dirty="0">
                <a:solidFill>
                  <a:srgbClr val="34495E"/>
                </a:solidFill>
                <a:latin typeface="Inter" pitchFamily="34" charset="0"/>
                <a:ea typeface="Inter" pitchFamily="34" charset="-122"/>
                <a:cs typeface="Inter" pitchFamily="34" charset="-120"/>
              </a:rPr>
              <a:t>CPT Task (60 subjects)</a:t>
            </a:r>
            <a:endParaRPr lang="en-US" sz="1400" dirty="0"/>
          </a:p>
        </p:txBody>
      </p:sp>
      <p:sp>
        <p:nvSpPr>
          <p:cNvPr id="25" name="Shape 21"/>
          <p:cNvSpPr/>
          <p:nvPr/>
        </p:nvSpPr>
        <p:spPr>
          <a:xfrm>
            <a:off x="4811650" y="3802261"/>
            <a:ext cx="1244519" cy="310753"/>
          </a:xfrm>
          <a:prstGeom prst="rect">
            <a:avLst/>
          </a:prstGeom>
          <a:solidFill>
            <a:srgbClr val="ECF0F1"/>
          </a:solidFill>
          <a:ln w="9144">
            <a:solidFill>
              <a:srgbClr val="BDC3C7"/>
            </a:solidFill>
            <a:prstDash val="solid"/>
          </a:ln>
        </p:spPr>
      </p:sp>
      <p:sp>
        <p:nvSpPr>
          <p:cNvPr id="26" name="Text 22"/>
          <p:cNvSpPr/>
          <p:nvPr/>
        </p:nvSpPr>
        <p:spPr>
          <a:xfrm>
            <a:off x="4811650" y="3746811"/>
            <a:ext cx="823367" cy="421654"/>
          </a:xfrm>
          <a:prstGeom prst="rect">
            <a:avLst/>
          </a:prstGeom>
          <a:noFill/>
          <a:ln/>
        </p:spPr>
        <p:txBody>
          <a:bodyPr wrap="none" lIns="102108" tIns="102108" rIns="102108" bIns="102108" rtlCol="0" anchor="ctr">
            <a:spAutoFit/>
          </a:bodyPr>
          <a:lstStyle/>
          <a:p>
            <a:pPr marL="0" indent="0" algn="l">
              <a:buNone/>
            </a:pPr>
            <a:r>
              <a:rPr lang="en-US" sz="1400" dirty="0">
                <a:solidFill>
                  <a:srgbClr val="34495E"/>
                </a:solidFill>
                <a:latin typeface="Inter" pitchFamily="34" charset="0"/>
                <a:ea typeface="Inter" pitchFamily="34" charset="-122"/>
                <a:cs typeface="Inter" pitchFamily="34" charset="-120"/>
              </a:rPr>
              <a:t>90.50%</a:t>
            </a:r>
            <a:endParaRPr lang="en-US" sz="1400" dirty="0"/>
          </a:p>
        </p:txBody>
      </p:sp>
      <p:sp>
        <p:nvSpPr>
          <p:cNvPr id="27" name="Shape 23"/>
          <p:cNvSpPr/>
          <p:nvPr/>
        </p:nvSpPr>
        <p:spPr>
          <a:xfrm>
            <a:off x="6056170" y="3802261"/>
            <a:ext cx="2084133" cy="310753"/>
          </a:xfrm>
          <a:prstGeom prst="rect">
            <a:avLst/>
          </a:prstGeom>
          <a:solidFill>
            <a:srgbClr val="ECF0F1"/>
          </a:solidFill>
          <a:ln w="9144">
            <a:solidFill>
              <a:srgbClr val="BDC3C7"/>
            </a:solidFill>
            <a:prstDash val="solid"/>
          </a:ln>
        </p:spPr>
      </p:sp>
      <p:sp>
        <p:nvSpPr>
          <p:cNvPr id="28" name="Text 24"/>
          <p:cNvSpPr/>
          <p:nvPr/>
        </p:nvSpPr>
        <p:spPr>
          <a:xfrm>
            <a:off x="6056170" y="3746811"/>
            <a:ext cx="2084133" cy="421654"/>
          </a:xfrm>
          <a:prstGeom prst="rect">
            <a:avLst/>
          </a:prstGeom>
          <a:noFill/>
          <a:ln/>
        </p:spPr>
        <p:txBody>
          <a:bodyPr wrap="square" lIns="102108" tIns="102108" rIns="102108" bIns="102108" rtlCol="0" anchor="ctr">
            <a:spAutoFit/>
          </a:bodyPr>
          <a:lstStyle/>
          <a:p>
            <a:pPr marL="0" indent="0" algn="l">
              <a:buNone/>
            </a:pPr>
            <a:r>
              <a:rPr lang="en-US" sz="1400" dirty="0">
                <a:solidFill>
                  <a:srgbClr val="34495E"/>
                </a:solidFill>
                <a:latin typeface="Inter" pitchFamily="34" charset="0"/>
                <a:ea typeface="Inter" pitchFamily="34" charset="-122"/>
                <a:cs typeface="Inter" pitchFamily="34" charset="-120"/>
              </a:rPr>
              <a:t>± 0.81% Std Dev</a:t>
            </a:r>
            <a:endParaRPr lang="en-US" sz="1400" dirty="0"/>
          </a:p>
        </p:txBody>
      </p:sp>
      <p:sp>
        <p:nvSpPr>
          <p:cNvPr id="29" name="Shape 25"/>
          <p:cNvSpPr/>
          <p:nvPr/>
        </p:nvSpPr>
        <p:spPr>
          <a:xfrm>
            <a:off x="1003697" y="4105870"/>
            <a:ext cx="1670828" cy="310753"/>
          </a:xfrm>
          <a:prstGeom prst="rect">
            <a:avLst/>
          </a:prstGeom>
          <a:solidFill>
            <a:srgbClr val="FFFFFF"/>
          </a:solidFill>
          <a:ln w="9144">
            <a:solidFill>
              <a:srgbClr val="BDC3C7"/>
            </a:solidFill>
            <a:prstDash val="solid"/>
          </a:ln>
        </p:spPr>
      </p:sp>
      <p:sp>
        <p:nvSpPr>
          <p:cNvPr id="30" name="Text 26"/>
          <p:cNvSpPr/>
          <p:nvPr/>
        </p:nvSpPr>
        <p:spPr>
          <a:xfrm>
            <a:off x="1003697" y="4050420"/>
            <a:ext cx="1670828" cy="421654"/>
          </a:xfrm>
          <a:prstGeom prst="rect">
            <a:avLst/>
          </a:prstGeom>
          <a:noFill/>
          <a:ln/>
        </p:spPr>
        <p:txBody>
          <a:bodyPr wrap="square" lIns="102108" tIns="102108" rIns="102108" bIns="102108" rtlCol="0" anchor="ctr">
            <a:spAutoFit/>
          </a:bodyPr>
          <a:lstStyle/>
          <a:p>
            <a:pPr marL="0" indent="0" algn="l">
              <a:buNone/>
            </a:pPr>
            <a:r>
              <a:rPr lang="en-US" sz="1400" dirty="0">
                <a:solidFill>
                  <a:srgbClr val="34495E"/>
                </a:solidFill>
                <a:latin typeface="Inter" pitchFamily="34" charset="0"/>
                <a:ea typeface="Inter" pitchFamily="34" charset="-122"/>
                <a:cs typeface="Inter" pitchFamily="34" charset="-120"/>
              </a:rPr>
              <a:t>Hybrid CNN-LSTM</a:t>
            </a:r>
            <a:endParaRPr lang="en-US" sz="1400" dirty="0"/>
          </a:p>
        </p:txBody>
      </p:sp>
      <p:sp>
        <p:nvSpPr>
          <p:cNvPr id="31" name="Shape 27"/>
          <p:cNvSpPr/>
          <p:nvPr/>
        </p:nvSpPr>
        <p:spPr>
          <a:xfrm>
            <a:off x="2671790" y="4105870"/>
            <a:ext cx="2138186" cy="310753"/>
          </a:xfrm>
          <a:prstGeom prst="rect">
            <a:avLst/>
          </a:prstGeom>
          <a:solidFill>
            <a:srgbClr val="FFFFFF"/>
          </a:solidFill>
          <a:ln w="9144">
            <a:solidFill>
              <a:srgbClr val="BDC3C7"/>
            </a:solidFill>
            <a:prstDash val="solid"/>
          </a:ln>
        </p:spPr>
      </p:sp>
      <p:sp>
        <p:nvSpPr>
          <p:cNvPr id="32" name="Text 28"/>
          <p:cNvSpPr/>
          <p:nvPr/>
        </p:nvSpPr>
        <p:spPr>
          <a:xfrm>
            <a:off x="2671790" y="4050420"/>
            <a:ext cx="2138186" cy="421654"/>
          </a:xfrm>
          <a:prstGeom prst="rect">
            <a:avLst/>
          </a:prstGeom>
          <a:noFill/>
          <a:ln/>
        </p:spPr>
        <p:txBody>
          <a:bodyPr wrap="square" lIns="102108" tIns="102108" rIns="102108" bIns="102108" rtlCol="0" anchor="ctr">
            <a:spAutoFit/>
          </a:bodyPr>
          <a:lstStyle/>
          <a:p>
            <a:pPr marL="0" indent="0" algn="l">
              <a:buNone/>
            </a:pPr>
            <a:r>
              <a:rPr lang="en-US" sz="1400" dirty="0">
                <a:solidFill>
                  <a:srgbClr val="34495E"/>
                </a:solidFill>
                <a:latin typeface="Inter" pitchFamily="34" charset="0"/>
                <a:ea typeface="Inter" pitchFamily="34" charset="-122"/>
                <a:cs typeface="Inter" pitchFamily="34" charset="-120"/>
              </a:rPr>
              <a:t>IEEE ADHD (121 subjects)</a:t>
            </a:r>
            <a:endParaRPr lang="en-US" sz="1400" dirty="0"/>
          </a:p>
        </p:txBody>
      </p:sp>
      <p:sp>
        <p:nvSpPr>
          <p:cNvPr id="33" name="Shape 29"/>
          <p:cNvSpPr/>
          <p:nvPr/>
        </p:nvSpPr>
        <p:spPr>
          <a:xfrm>
            <a:off x="4807660" y="4105870"/>
            <a:ext cx="1245998" cy="310753"/>
          </a:xfrm>
          <a:prstGeom prst="rect">
            <a:avLst/>
          </a:prstGeom>
          <a:solidFill>
            <a:srgbClr val="FFFFFF"/>
          </a:solidFill>
          <a:ln w="9144">
            <a:solidFill>
              <a:srgbClr val="BDC3C7"/>
            </a:solidFill>
            <a:prstDash val="solid"/>
          </a:ln>
        </p:spPr>
      </p:sp>
      <p:sp>
        <p:nvSpPr>
          <p:cNvPr id="34" name="Text 30"/>
          <p:cNvSpPr/>
          <p:nvPr/>
        </p:nvSpPr>
        <p:spPr>
          <a:xfrm>
            <a:off x="4807660" y="4050420"/>
            <a:ext cx="842603" cy="421654"/>
          </a:xfrm>
          <a:prstGeom prst="rect">
            <a:avLst/>
          </a:prstGeom>
          <a:noFill/>
          <a:ln/>
        </p:spPr>
        <p:txBody>
          <a:bodyPr wrap="none" lIns="102108" tIns="102108" rIns="102108" bIns="102108" rtlCol="0" anchor="ctr">
            <a:spAutoFit/>
          </a:bodyPr>
          <a:lstStyle/>
          <a:p>
            <a:pPr marL="0" indent="0" algn="l">
              <a:buNone/>
            </a:pPr>
            <a:r>
              <a:rPr lang="en-US" sz="1400" b="1" dirty="0">
                <a:solidFill>
                  <a:srgbClr val="E74C3C"/>
                </a:solidFill>
                <a:latin typeface="Inter Bold" pitchFamily="34" charset="0"/>
                <a:ea typeface="Inter Bold" pitchFamily="34" charset="-122"/>
                <a:cs typeface="Inter Bold" pitchFamily="34" charset="-120"/>
              </a:rPr>
              <a:t>98.86%</a:t>
            </a:r>
            <a:endParaRPr lang="en-US" sz="1400" dirty="0"/>
          </a:p>
        </p:txBody>
      </p:sp>
      <p:sp>
        <p:nvSpPr>
          <p:cNvPr id="35" name="Shape 31"/>
          <p:cNvSpPr/>
          <p:nvPr/>
        </p:nvSpPr>
        <p:spPr>
          <a:xfrm>
            <a:off x="6052235" y="4105870"/>
            <a:ext cx="2088068" cy="310753"/>
          </a:xfrm>
          <a:prstGeom prst="rect">
            <a:avLst/>
          </a:prstGeom>
          <a:solidFill>
            <a:srgbClr val="FFFFFF"/>
          </a:solidFill>
          <a:ln w="9144">
            <a:solidFill>
              <a:srgbClr val="BDC3C7"/>
            </a:solidFill>
            <a:prstDash val="solid"/>
          </a:ln>
        </p:spPr>
      </p:sp>
      <p:sp>
        <p:nvSpPr>
          <p:cNvPr id="36" name="Text 32"/>
          <p:cNvSpPr/>
          <p:nvPr/>
        </p:nvSpPr>
        <p:spPr>
          <a:xfrm>
            <a:off x="6052235" y="4050420"/>
            <a:ext cx="2088068" cy="421654"/>
          </a:xfrm>
          <a:prstGeom prst="rect">
            <a:avLst/>
          </a:prstGeom>
          <a:noFill/>
          <a:ln/>
        </p:spPr>
        <p:txBody>
          <a:bodyPr wrap="square" lIns="102108" tIns="102108" rIns="102108" bIns="102108" rtlCol="0" anchor="ctr">
            <a:spAutoFit/>
          </a:bodyPr>
          <a:lstStyle/>
          <a:p>
            <a:pPr marL="0" indent="0" algn="l">
              <a:buNone/>
            </a:pPr>
            <a:r>
              <a:rPr lang="en-US" sz="1400" dirty="0">
                <a:solidFill>
                  <a:srgbClr val="34495E"/>
                </a:solidFill>
                <a:latin typeface="Inter" pitchFamily="34" charset="0"/>
                <a:ea typeface="Inter" pitchFamily="34" charset="-122"/>
                <a:cs typeface="Inter" pitchFamily="34" charset="-120"/>
              </a:rPr>
              <a:t>98.28% (FOCUS Dataset)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0" y="428625"/>
            <a:ext cx="9144000" cy="307777"/>
          </a:xfrm>
          <a:prstGeom prst="rect">
            <a:avLst/>
          </a:prstGeom>
          <a:noFill/>
          <a:ln/>
        </p:spPr>
        <p:txBody>
          <a:bodyPr wrap="square" lIns="0" tIns="0" rIns="0" bIns="0" rtlCol="0" anchor="t">
            <a:spAutoFit/>
          </a:bodyPr>
          <a:lstStyle/>
          <a:p>
            <a:pPr marL="0" indent="0" algn="ctr">
              <a:buNone/>
            </a:pPr>
            <a:r>
              <a:rPr lang="en-US" sz="2000" b="1" dirty="0">
                <a:solidFill>
                  <a:srgbClr val="2C3E50"/>
                </a:solidFill>
                <a:latin typeface="Inter Bold" pitchFamily="34" charset="0"/>
                <a:ea typeface="Inter Bold" pitchFamily="34" charset="-122"/>
                <a:cs typeface="Inter Bold" pitchFamily="34" charset="-120"/>
              </a:rPr>
              <a:t>Common Future Directions</a:t>
            </a:r>
            <a:endParaRPr lang="en-US" sz="2000" dirty="0"/>
          </a:p>
        </p:txBody>
      </p:sp>
      <p:pic>
        <p:nvPicPr>
          <p:cNvPr id="4" name="Image 1" descr="preencoded.png"/>
          <p:cNvPicPr>
            <a:picLocks noChangeAspect="1"/>
          </p:cNvPicPr>
          <p:nvPr/>
        </p:nvPicPr>
        <p:blipFill>
          <a:blip r:embed="rId3"/>
          <a:stretch>
            <a:fillRect/>
          </a:stretch>
        </p:blipFill>
        <p:spPr>
          <a:xfrm>
            <a:off x="571500" y="1303734"/>
            <a:ext cx="157163" cy="157163"/>
          </a:xfrm>
          <a:prstGeom prst="rect">
            <a:avLst/>
          </a:prstGeom>
        </p:spPr>
      </p:pic>
      <p:sp>
        <p:nvSpPr>
          <p:cNvPr id="5" name="Text 1"/>
          <p:cNvSpPr/>
          <p:nvPr/>
        </p:nvSpPr>
        <p:spPr>
          <a:xfrm>
            <a:off x="835819" y="1291233"/>
            <a:ext cx="1478784" cy="215444"/>
          </a:xfrm>
          <a:prstGeom prst="rect">
            <a:avLst/>
          </a:prstGeom>
          <a:noFill/>
          <a:ln/>
        </p:spPr>
        <p:txBody>
          <a:bodyPr wrap="square" lIns="0" tIns="0" rIns="0" bIns="0" rtlCol="0" anchor="t">
            <a:spAutoFit/>
          </a:bodyPr>
          <a:lstStyle/>
          <a:p>
            <a:pPr marL="0" indent="0" algn="just">
              <a:buNone/>
            </a:pPr>
            <a:r>
              <a:rPr lang="en-US" sz="1400" b="1" dirty="0">
                <a:solidFill>
                  <a:srgbClr val="2C3E50"/>
                </a:solidFill>
                <a:latin typeface="Inter Bold" pitchFamily="34" charset="0"/>
                <a:ea typeface="Inter Bold" pitchFamily="34" charset="-122"/>
                <a:cs typeface="Inter Bold" pitchFamily="34" charset="-120"/>
              </a:rPr>
              <a:t>Explainable AI (XAI)</a:t>
            </a:r>
            <a:endParaRPr lang="en-US" sz="1400" dirty="0"/>
          </a:p>
        </p:txBody>
      </p:sp>
      <p:sp>
        <p:nvSpPr>
          <p:cNvPr id="6" name="Text 2"/>
          <p:cNvSpPr/>
          <p:nvPr/>
        </p:nvSpPr>
        <p:spPr>
          <a:xfrm>
            <a:off x="571500" y="1580555"/>
            <a:ext cx="3857625" cy="1356012"/>
          </a:xfrm>
          <a:prstGeom prst="rect">
            <a:avLst/>
          </a:prstGeom>
          <a:noFill/>
          <a:ln/>
        </p:spPr>
        <p:txBody>
          <a:bodyPr wrap="square" lIns="0" tIns="0" rIns="0" bIns="0" rtlCol="0" anchor="t">
            <a:spAutoFit/>
          </a:bodyPr>
          <a:lstStyle/>
          <a:p>
            <a:pPr marL="0" indent="0" algn="just">
              <a:lnSpc>
                <a:spcPct val="128000"/>
              </a:lnSpc>
              <a:buNone/>
            </a:pPr>
            <a:r>
              <a:rPr lang="en-US" sz="1400" dirty="0">
                <a:solidFill>
                  <a:srgbClr val="34495E"/>
                </a:solidFill>
                <a:latin typeface="Inter" pitchFamily="34" charset="0"/>
                <a:ea typeface="Inter" pitchFamily="34" charset="-122"/>
                <a:cs typeface="Inter" pitchFamily="34" charset="-120"/>
              </a:rPr>
              <a:t>Implementing techniques like SHAP, Grad-CAM, or LIME to identify critical EEG channels and temporal patterns. This enhances clinical interpretability and builds trust in AI-driven diagnostic decisions.</a:t>
            </a:r>
            <a:endParaRPr lang="en-US" sz="1400" dirty="0"/>
          </a:p>
        </p:txBody>
      </p:sp>
      <p:pic>
        <p:nvPicPr>
          <p:cNvPr id="7" name="Image 2" descr="preencoded.png"/>
          <p:cNvPicPr>
            <a:picLocks noChangeAspect="1"/>
          </p:cNvPicPr>
          <p:nvPr/>
        </p:nvPicPr>
        <p:blipFill>
          <a:blip r:embed="rId4"/>
          <a:stretch>
            <a:fillRect/>
          </a:stretch>
        </p:blipFill>
        <p:spPr>
          <a:xfrm>
            <a:off x="4714875" y="1303734"/>
            <a:ext cx="196453" cy="157163"/>
          </a:xfrm>
          <a:prstGeom prst="rect">
            <a:avLst/>
          </a:prstGeom>
        </p:spPr>
      </p:pic>
      <p:sp>
        <p:nvSpPr>
          <p:cNvPr id="8" name="Text 3"/>
          <p:cNvSpPr/>
          <p:nvPr/>
        </p:nvSpPr>
        <p:spPr>
          <a:xfrm>
            <a:off x="5018484" y="1291233"/>
            <a:ext cx="2180602" cy="215444"/>
          </a:xfrm>
          <a:prstGeom prst="rect">
            <a:avLst/>
          </a:prstGeom>
          <a:noFill/>
          <a:ln/>
        </p:spPr>
        <p:txBody>
          <a:bodyPr wrap="square" lIns="0" tIns="0" rIns="0" bIns="0" rtlCol="0" anchor="t">
            <a:spAutoFit/>
          </a:bodyPr>
          <a:lstStyle/>
          <a:p>
            <a:pPr marL="0" indent="0" algn="just">
              <a:buNone/>
            </a:pPr>
            <a:r>
              <a:rPr lang="en-US" sz="1400" b="1" dirty="0">
                <a:solidFill>
                  <a:srgbClr val="2C3E50"/>
                </a:solidFill>
                <a:latin typeface="Inter Bold" pitchFamily="34" charset="0"/>
                <a:ea typeface="Inter Bold" pitchFamily="34" charset="-122"/>
                <a:cs typeface="Inter Bold" pitchFamily="34" charset="-120"/>
              </a:rPr>
              <a:t>Multi-modal Integration</a:t>
            </a:r>
            <a:endParaRPr lang="en-US" sz="1400" dirty="0"/>
          </a:p>
        </p:txBody>
      </p:sp>
      <p:sp>
        <p:nvSpPr>
          <p:cNvPr id="9" name="Text 4"/>
          <p:cNvSpPr/>
          <p:nvPr/>
        </p:nvSpPr>
        <p:spPr>
          <a:xfrm>
            <a:off x="4714875" y="1580555"/>
            <a:ext cx="3857625" cy="1081578"/>
          </a:xfrm>
          <a:prstGeom prst="rect">
            <a:avLst/>
          </a:prstGeom>
          <a:noFill/>
          <a:ln/>
        </p:spPr>
        <p:txBody>
          <a:bodyPr wrap="square" lIns="0" tIns="0" rIns="0" bIns="0" rtlCol="0" anchor="t">
            <a:spAutoFit/>
          </a:bodyPr>
          <a:lstStyle/>
          <a:p>
            <a:pPr marL="0" indent="0" algn="just">
              <a:lnSpc>
                <a:spcPct val="128000"/>
              </a:lnSpc>
              <a:buNone/>
            </a:pPr>
            <a:r>
              <a:rPr lang="en-US" sz="1400" dirty="0">
                <a:solidFill>
                  <a:srgbClr val="34495E"/>
                </a:solidFill>
                <a:latin typeface="Inter" pitchFamily="34" charset="0"/>
                <a:ea typeface="Inter" pitchFamily="34" charset="-122"/>
                <a:cs typeface="Inter" pitchFamily="34" charset="-120"/>
              </a:rPr>
              <a:t>Combining EEG data with eye-tracking, fMRI, or behavioral performance metrics (CPT). Multi-modal fusion can lead to more robust models and a deeper understanding of neurodevelopmental markers.</a:t>
            </a:r>
            <a:endParaRPr lang="en-US" sz="1400" dirty="0"/>
          </a:p>
        </p:txBody>
      </p:sp>
      <p:pic>
        <p:nvPicPr>
          <p:cNvPr id="10" name="Image 3" descr="preencoded.png"/>
          <p:cNvPicPr>
            <a:picLocks noChangeAspect="1"/>
          </p:cNvPicPr>
          <p:nvPr/>
        </p:nvPicPr>
        <p:blipFill>
          <a:blip r:embed="rId5"/>
          <a:stretch>
            <a:fillRect/>
          </a:stretch>
        </p:blipFill>
        <p:spPr>
          <a:xfrm>
            <a:off x="571500" y="2598846"/>
            <a:ext cx="117872" cy="157163"/>
          </a:xfrm>
          <a:prstGeom prst="rect">
            <a:avLst/>
          </a:prstGeom>
        </p:spPr>
      </p:pic>
      <p:sp>
        <p:nvSpPr>
          <p:cNvPr id="11" name="Text 5"/>
          <p:cNvSpPr/>
          <p:nvPr/>
        </p:nvSpPr>
        <p:spPr>
          <a:xfrm>
            <a:off x="571499" y="3037297"/>
            <a:ext cx="2164444" cy="215444"/>
          </a:xfrm>
          <a:prstGeom prst="rect">
            <a:avLst/>
          </a:prstGeom>
          <a:noFill/>
          <a:ln/>
        </p:spPr>
        <p:txBody>
          <a:bodyPr wrap="square" lIns="0" tIns="0" rIns="0" bIns="0" rtlCol="0" anchor="t">
            <a:spAutoFit/>
          </a:bodyPr>
          <a:lstStyle/>
          <a:p>
            <a:pPr marL="0" indent="0" algn="just">
              <a:buNone/>
            </a:pPr>
            <a:r>
              <a:rPr lang="en-US" sz="1400" b="1" dirty="0">
                <a:solidFill>
                  <a:srgbClr val="2C3E50"/>
                </a:solidFill>
                <a:latin typeface="Inter Bold" pitchFamily="34" charset="0"/>
                <a:ea typeface="Inter Bold" pitchFamily="34" charset="-122"/>
                <a:cs typeface="Inter Bold" pitchFamily="34" charset="-120"/>
              </a:rPr>
              <a:t>Real-time Detection</a:t>
            </a:r>
            <a:endParaRPr lang="en-US" sz="1400" dirty="0"/>
          </a:p>
        </p:txBody>
      </p:sp>
      <p:sp>
        <p:nvSpPr>
          <p:cNvPr id="12" name="Text 6"/>
          <p:cNvSpPr/>
          <p:nvPr/>
        </p:nvSpPr>
        <p:spPr>
          <a:xfrm>
            <a:off x="571499" y="3323532"/>
            <a:ext cx="3857625" cy="1356012"/>
          </a:xfrm>
          <a:prstGeom prst="rect">
            <a:avLst/>
          </a:prstGeom>
          <a:noFill/>
          <a:ln/>
        </p:spPr>
        <p:txBody>
          <a:bodyPr wrap="square" lIns="0" tIns="0" rIns="0" bIns="0" rtlCol="0" anchor="t">
            <a:spAutoFit/>
          </a:bodyPr>
          <a:lstStyle/>
          <a:p>
            <a:pPr marL="0" indent="0" algn="just">
              <a:lnSpc>
                <a:spcPct val="128000"/>
              </a:lnSpc>
              <a:buNone/>
            </a:pPr>
            <a:r>
              <a:rPr lang="en-US" sz="1400" dirty="0">
                <a:solidFill>
                  <a:srgbClr val="34495E"/>
                </a:solidFill>
                <a:latin typeface="Inter" pitchFamily="34" charset="0"/>
                <a:ea typeface="Inter" pitchFamily="34" charset="-122"/>
                <a:cs typeface="Inter" pitchFamily="34" charset="-120"/>
              </a:rPr>
              <a:t>Optimizing models for low-latency deployment on portable or wearable EEG devices. This enables immediate feedback for clinical interventions and adaptive learning environments in schools.</a:t>
            </a:r>
            <a:endParaRPr lang="en-US" sz="1400" dirty="0"/>
          </a:p>
        </p:txBody>
      </p:sp>
      <p:pic>
        <p:nvPicPr>
          <p:cNvPr id="13" name="Image 4" descr="preencoded.png"/>
          <p:cNvPicPr>
            <a:picLocks noChangeAspect="1"/>
          </p:cNvPicPr>
          <p:nvPr/>
        </p:nvPicPr>
        <p:blipFill>
          <a:blip r:embed="rId6"/>
          <a:stretch>
            <a:fillRect/>
          </a:stretch>
        </p:blipFill>
        <p:spPr>
          <a:xfrm>
            <a:off x="4714875" y="2598846"/>
            <a:ext cx="157163" cy="157163"/>
          </a:xfrm>
          <a:prstGeom prst="rect">
            <a:avLst/>
          </a:prstGeom>
        </p:spPr>
      </p:pic>
      <p:sp>
        <p:nvSpPr>
          <p:cNvPr id="14" name="Text 7"/>
          <p:cNvSpPr/>
          <p:nvPr/>
        </p:nvSpPr>
        <p:spPr>
          <a:xfrm>
            <a:off x="4714875" y="2920613"/>
            <a:ext cx="2164444" cy="215444"/>
          </a:xfrm>
          <a:prstGeom prst="rect">
            <a:avLst/>
          </a:prstGeom>
          <a:noFill/>
          <a:ln/>
        </p:spPr>
        <p:txBody>
          <a:bodyPr wrap="square" lIns="0" tIns="0" rIns="0" bIns="0" rtlCol="0" anchor="t">
            <a:spAutoFit/>
          </a:bodyPr>
          <a:lstStyle/>
          <a:p>
            <a:pPr marL="0" indent="0" algn="just">
              <a:buNone/>
            </a:pPr>
            <a:r>
              <a:rPr lang="en-US" sz="1400" b="1" dirty="0">
                <a:solidFill>
                  <a:srgbClr val="2C3E50"/>
                </a:solidFill>
                <a:latin typeface="Inter Bold" pitchFamily="34" charset="0"/>
                <a:ea typeface="Inter Bold" pitchFamily="34" charset="-122"/>
                <a:cs typeface="Inter Bold" pitchFamily="34" charset="-120"/>
              </a:rPr>
              <a:t>Severity Prediction</a:t>
            </a:r>
            <a:endParaRPr lang="en-US" sz="1400" dirty="0"/>
          </a:p>
        </p:txBody>
      </p:sp>
      <p:sp>
        <p:nvSpPr>
          <p:cNvPr id="15" name="Text 8"/>
          <p:cNvSpPr/>
          <p:nvPr/>
        </p:nvSpPr>
        <p:spPr>
          <a:xfrm>
            <a:off x="4714874" y="3252741"/>
            <a:ext cx="3857625" cy="1081578"/>
          </a:xfrm>
          <a:prstGeom prst="rect">
            <a:avLst/>
          </a:prstGeom>
          <a:noFill/>
          <a:ln/>
        </p:spPr>
        <p:txBody>
          <a:bodyPr wrap="square" lIns="0" tIns="0" rIns="0" bIns="0" rtlCol="0" anchor="t">
            <a:spAutoFit/>
          </a:bodyPr>
          <a:lstStyle/>
          <a:p>
            <a:pPr marL="0" indent="0" algn="just">
              <a:lnSpc>
                <a:spcPct val="128000"/>
              </a:lnSpc>
              <a:buNone/>
            </a:pPr>
            <a:r>
              <a:rPr lang="en-US" sz="1400" dirty="0">
                <a:solidFill>
                  <a:srgbClr val="34495E"/>
                </a:solidFill>
                <a:latin typeface="Inter" pitchFamily="34" charset="0"/>
                <a:ea typeface="Inter" pitchFamily="34" charset="-122"/>
                <a:cs typeface="Inter" pitchFamily="34" charset="-120"/>
              </a:rPr>
              <a:t>Transitioning from binary classification to predicting ADHD severity levels (Mild, Moderate, Severe). This provides clinicians with a more nuanced tool for personalized treatment planning.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0" y="428625"/>
            <a:ext cx="9144000" cy="262533"/>
          </a:xfrm>
          <a:prstGeom prst="rect">
            <a:avLst/>
          </a:prstGeom>
          <a:noFill/>
          <a:ln/>
        </p:spPr>
        <p:txBody>
          <a:bodyPr wrap="square" lIns="0" tIns="0" rIns="0" bIns="0" rtlCol="0" anchor="t">
            <a:spAutoFit/>
          </a:bodyPr>
          <a:lstStyle/>
          <a:p>
            <a:pPr marL="0" indent="0" algn="ctr">
              <a:buNone/>
            </a:pPr>
            <a:r>
              <a:rPr lang="en-US" sz="1600" b="1" dirty="0">
                <a:solidFill>
                  <a:srgbClr val="2C3E50"/>
                </a:solidFill>
                <a:latin typeface="Inter Bold" pitchFamily="34" charset="0"/>
                <a:ea typeface="Inter Bold" pitchFamily="34" charset="-122"/>
                <a:cs typeface="Inter Bold" pitchFamily="34" charset="-120"/>
              </a:rPr>
              <a:t>Key Takeaways and Future Outlook</a:t>
            </a:r>
            <a:endParaRPr lang="en-US" sz="1600" dirty="0"/>
          </a:p>
        </p:txBody>
      </p:sp>
      <p:sp>
        <p:nvSpPr>
          <p:cNvPr id="4" name="Text 1"/>
          <p:cNvSpPr/>
          <p:nvPr/>
        </p:nvSpPr>
        <p:spPr>
          <a:xfrm>
            <a:off x="571500" y="1119783"/>
            <a:ext cx="3600450" cy="196453"/>
          </a:xfrm>
          <a:prstGeom prst="rect">
            <a:avLst/>
          </a:prstGeom>
          <a:noFill/>
          <a:ln/>
        </p:spPr>
        <p:txBody>
          <a:bodyPr wrap="square" lIns="127508" tIns="0" rIns="0" bIns="0" rtlCol="0" anchor="t">
            <a:spAutoFit/>
          </a:bodyPr>
          <a:lstStyle/>
          <a:p>
            <a:pPr marL="0" indent="0" algn="l">
              <a:buNone/>
            </a:pPr>
            <a:r>
              <a:rPr lang="en-US" sz="1200" b="1" dirty="0">
                <a:solidFill>
                  <a:srgbClr val="3498DB"/>
                </a:solidFill>
                <a:latin typeface="Inter Bold" pitchFamily="34" charset="0"/>
                <a:ea typeface="Inter Bold" pitchFamily="34" charset="-122"/>
                <a:cs typeface="Inter Bold" pitchFamily="34" charset="-120"/>
              </a:rPr>
              <a:t>Key Takeaways</a:t>
            </a:r>
            <a:endParaRPr lang="en-US" sz="1200" dirty="0"/>
          </a:p>
        </p:txBody>
      </p:sp>
      <p:pic>
        <p:nvPicPr>
          <p:cNvPr id="5" name="Image 1" descr="preencoded.png"/>
          <p:cNvPicPr>
            <a:picLocks noChangeAspect="1"/>
          </p:cNvPicPr>
          <p:nvPr/>
        </p:nvPicPr>
        <p:blipFill>
          <a:blip r:embed="rId4"/>
          <a:stretch>
            <a:fillRect/>
          </a:stretch>
        </p:blipFill>
        <p:spPr>
          <a:xfrm>
            <a:off x="571500" y="1530548"/>
            <a:ext cx="114300" cy="114300"/>
          </a:xfrm>
          <a:prstGeom prst="rect">
            <a:avLst/>
          </a:prstGeom>
        </p:spPr>
      </p:pic>
      <p:sp>
        <p:nvSpPr>
          <p:cNvPr id="6" name="Text 2"/>
          <p:cNvSpPr/>
          <p:nvPr/>
        </p:nvSpPr>
        <p:spPr>
          <a:xfrm>
            <a:off x="792956" y="1494830"/>
            <a:ext cx="3378994" cy="578644"/>
          </a:xfrm>
          <a:prstGeom prst="rect">
            <a:avLst/>
          </a:prstGeom>
          <a:noFill/>
          <a:ln/>
        </p:spPr>
        <p:txBody>
          <a:bodyPr wrap="square" lIns="0" tIns="0" rIns="0" bIns="0" rtlCol="0" anchor="t">
            <a:spAutoFit/>
          </a:bodyPr>
          <a:lstStyle/>
          <a:p>
            <a:pPr marL="0" indent="0" algn="l">
              <a:lnSpc>
                <a:spcPct val="120000"/>
              </a:lnSpc>
              <a:buNone/>
            </a:pPr>
            <a:r>
              <a:rPr lang="en-US" sz="900" b="1" dirty="0">
                <a:solidFill>
                  <a:srgbClr val="2C3E50"/>
                </a:solidFill>
                <a:latin typeface="Inter Bold" pitchFamily="34" charset="0"/>
                <a:ea typeface="Inter Bold" pitchFamily="34" charset="-122"/>
                <a:cs typeface="Inter Bold" pitchFamily="34" charset="-120"/>
              </a:rPr>
              <a:t>Superior Accuracy:</a:t>
            </a:r>
            <a:r>
              <a:rPr lang="en-US" sz="950" dirty="0">
                <a:solidFill>
                  <a:srgbClr val="34495E"/>
                </a:solidFill>
                <a:latin typeface="Inter" pitchFamily="34" charset="0"/>
                <a:ea typeface="Inter" pitchFamily="34" charset="-122"/>
                <a:cs typeface="Inter" pitchFamily="34" charset="-120"/>
              </a:rPr>
              <a:t> Deep learning models (Transformer, LSTM, Hybrid) consistently achieve 90-99% accuracy, far exceeding traditional clinical methods.</a:t>
            </a:r>
            <a:endParaRPr lang="en-US" sz="900" dirty="0"/>
          </a:p>
        </p:txBody>
      </p:sp>
      <p:pic>
        <p:nvPicPr>
          <p:cNvPr id="7" name="Image 2" descr="preencoded.png"/>
          <p:cNvPicPr>
            <a:picLocks noChangeAspect="1"/>
          </p:cNvPicPr>
          <p:nvPr/>
        </p:nvPicPr>
        <p:blipFill>
          <a:blip r:embed="rId5"/>
          <a:stretch>
            <a:fillRect/>
          </a:stretch>
        </p:blipFill>
        <p:spPr>
          <a:xfrm>
            <a:off x="571500" y="2252067"/>
            <a:ext cx="114300" cy="114300"/>
          </a:xfrm>
          <a:prstGeom prst="rect">
            <a:avLst/>
          </a:prstGeom>
        </p:spPr>
      </p:pic>
      <p:sp>
        <p:nvSpPr>
          <p:cNvPr id="8" name="Text 3"/>
          <p:cNvSpPr/>
          <p:nvPr/>
        </p:nvSpPr>
        <p:spPr>
          <a:xfrm>
            <a:off x="792956" y="2216348"/>
            <a:ext cx="3378994" cy="578644"/>
          </a:xfrm>
          <a:prstGeom prst="rect">
            <a:avLst/>
          </a:prstGeom>
          <a:noFill/>
          <a:ln/>
        </p:spPr>
        <p:txBody>
          <a:bodyPr wrap="square" lIns="0" tIns="0" rIns="0" bIns="0" rtlCol="0" anchor="t">
            <a:spAutoFit/>
          </a:bodyPr>
          <a:lstStyle/>
          <a:p>
            <a:pPr marL="0" indent="0" algn="l">
              <a:lnSpc>
                <a:spcPct val="120000"/>
              </a:lnSpc>
              <a:buNone/>
            </a:pPr>
            <a:r>
              <a:rPr lang="en-US" sz="900" b="1" dirty="0">
                <a:solidFill>
                  <a:srgbClr val="2C3E50"/>
                </a:solidFill>
                <a:latin typeface="Inter Bold" pitchFamily="34" charset="0"/>
                <a:ea typeface="Inter Bold" pitchFamily="34" charset="-122"/>
                <a:cs typeface="Inter Bold" pitchFamily="34" charset="-120"/>
              </a:rPr>
              <a:t>Objective Biomarkers:</a:t>
            </a:r>
            <a:r>
              <a:rPr lang="en-US" sz="950" dirty="0">
                <a:solidFill>
                  <a:srgbClr val="34495E"/>
                </a:solidFill>
                <a:latin typeface="Inter" pitchFamily="34" charset="0"/>
                <a:ea typeface="Inter" pitchFamily="34" charset="-122"/>
                <a:cs typeface="Inter" pitchFamily="34" charset="-120"/>
              </a:rPr>
              <a:t> EEG signals provide quantifiable neurological markers, reducing the subjectivity inherent in behavioral assessments.</a:t>
            </a:r>
            <a:endParaRPr lang="en-US" sz="900" dirty="0"/>
          </a:p>
        </p:txBody>
      </p:sp>
      <p:pic>
        <p:nvPicPr>
          <p:cNvPr id="9" name="Image 3" descr="preencoded.png"/>
          <p:cNvPicPr>
            <a:picLocks noChangeAspect="1"/>
          </p:cNvPicPr>
          <p:nvPr/>
        </p:nvPicPr>
        <p:blipFill>
          <a:blip r:embed="rId6"/>
          <a:stretch>
            <a:fillRect/>
          </a:stretch>
        </p:blipFill>
        <p:spPr>
          <a:xfrm>
            <a:off x="571500" y="2973586"/>
            <a:ext cx="128588" cy="114300"/>
          </a:xfrm>
          <a:prstGeom prst="rect">
            <a:avLst/>
          </a:prstGeom>
        </p:spPr>
      </p:pic>
      <p:sp>
        <p:nvSpPr>
          <p:cNvPr id="10" name="Text 4"/>
          <p:cNvSpPr/>
          <p:nvPr/>
        </p:nvSpPr>
        <p:spPr>
          <a:xfrm>
            <a:off x="807244" y="2937867"/>
            <a:ext cx="3364706" cy="578644"/>
          </a:xfrm>
          <a:prstGeom prst="rect">
            <a:avLst/>
          </a:prstGeom>
          <a:noFill/>
          <a:ln/>
        </p:spPr>
        <p:txBody>
          <a:bodyPr wrap="square" lIns="0" tIns="0" rIns="0" bIns="0" rtlCol="0" anchor="t">
            <a:spAutoFit/>
          </a:bodyPr>
          <a:lstStyle/>
          <a:p>
            <a:pPr marL="0" indent="0" algn="l">
              <a:lnSpc>
                <a:spcPct val="120000"/>
              </a:lnSpc>
              <a:buNone/>
            </a:pPr>
            <a:r>
              <a:rPr lang="en-US" sz="900" b="1" dirty="0">
                <a:solidFill>
                  <a:srgbClr val="2C3E50"/>
                </a:solidFill>
                <a:latin typeface="Inter Bold" pitchFamily="34" charset="0"/>
                <a:ea typeface="Inter Bold" pitchFamily="34" charset="-122"/>
                <a:cs typeface="Inter Bold" pitchFamily="34" charset="-120"/>
              </a:rPr>
              <a:t>Architectural Evolution:</a:t>
            </a:r>
            <a:r>
              <a:rPr lang="en-US" sz="950" dirty="0">
                <a:solidFill>
                  <a:srgbClr val="34495E"/>
                </a:solidFill>
                <a:latin typeface="Inter" pitchFamily="34" charset="0"/>
                <a:ea typeface="Inter" pitchFamily="34" charset="-122"/>
                <a:cs typeface="Inter" pitchFamily="34" charset="-120"/>
              </a:rPr>
              <a:t> The shift from CNNs to Transformers and Hybrid models allows for better capture of global spatiotemporal brain dynamics.</a:t>
            </a:r>
            <a:endParaRPr lang="en-US" sz="900" dirty="0"/>
          </a:p>
        </p:txBody>
      </p:sp>
      <p:sp>
        <p:nvSpPr>
          <p:cNvPr id="11" name="Text 5"/>
          <p:cNvSpPr/>
          <p:nvPr/>
        </p:nvSpPr>
        <p:spPr>
          <a:xfrm>
            <a:off x="4972050" y="1119783"/>
            <a:ext cx="3600450" cy="196453"/>
          </a:xfrm>
          <a:prstGeom prst="rect">
            <a:avLst/>
          </a:prstGeom>
          <a:noFill/>
          <a:ln/>
        </p:spPr>
        <p:txBody>
          <a:bodyPr wrap="square" lIns="127508" tIns="0" rIns="0" bIns="0" rtlCol="0" anchor="t">
            <a:spAutoFit/>
          </a:bodyPr>
          <a:lstStyle/>
          <a:p>
            <a:pPr marL="0" indent="0" algn="l">
              <a:buNone/>
            </a:pPr>
            <a:r>
              <a:rPr lang="en-US" sz="1200" b="1" dirty="0">
                <a:solidFill>
                  <a:srgbClr val="3498DB"/>
                </a:solidFill>
                <a:latin typeface="Inter Bold" pitchFamily="34" charset="0"/>
                <a:ea typeface="Inter Bold" pitchFamily="34" charset="-122"/>
                <a:cs typeface="Inter Bold" pitchFamily="34" charset="-120"/>
              </a:rPr>
              <a:t>Future Outlook</a:t>
            </a:r>
            <a:endParaRPr lang="en-US" sz="1200" dirty="0"/>
          </a:p>
        </p:txBody>
      </p:sp>
      <p:pic>
        <p:nvPicPr>
          <p:cNvPr id="12" name="Image 4" descr="preencoded.png"/>
          <p:cNvPicPr>
            <a:picLocks noChangeAspect="1"/>
          </p:cNvPicPr>
          <p:nvPr/>
        </p:nvPicPr>
        <p:blipFill>
          <a:blip r:embed="rId7"/>
          <a:stretch>
            <a:fillRect/>
          </a:stretch>
        </p:blipFill>
        <p:spPr>
          <a:xfrm>
            <a:off x="4972050" y="1530548"/>
            <a:ext cx="128588" cy="114300"/>
          </a:xfrm>
          <a:prstGeom prst="rect">
            <a:avLst/>
          </a:prstGeom>
        </p:spPr>
      </p:pic>
      <p:sp>
        <p:nvSpPr>
          <p:cNvPr id="13" name="Text 6"/>
          <p:cNvSpPr/>
          <p:nvPr/>
        </p:nvSpPr>
        <p:spPr>
          <a:xfrm>
            <a:off x="5207794" y="1494830"/>
            <a:ext cx="3364706" cy="578644"/>
          </a:xfrm>
          <a:prstGeom prst="rect">
            <a:avLst/>
          </a:prstGeom>
          <a:noFill/>
          <a:ln/>
        </p:spPr>
        <p:txBody>
          <a:bodyPr wrap="square" lIns="0" tIns="0" rIns="0" bIns="0" rtlCol="0" anchor="t">
            <a:spAutoFit/>
          </a:bodyPr>
          <a:lstStyle/>
          <a:p>
            <a:pPr marL="0" indent="0" algn="l">
              <a:lnSpc>
                <a:spcPct val="120000"/>
              </a:lnSpc>
              <a:buNone/>
            </a:pPr>
            <a:r>
              <a:rPr lang="en-US" sz="900" b="1" dirty="0">
                <a:solidFill>
                  <a:srgbClr val="2C3E50"/>
                </a:solidFill>
                <a:latin typeface="Inter Bold" pitchFamily="34" charset="0"/>
                <a:ea typeface="Inter Bold" pitchFamily="34" charset="-122"/>
                <a:cs typeface="Inter Bold" pitchFamily="34" charset="-120"/>
              </a:rPr>
              <a:t>Clinical Integration:</a:t>
            </a:r>
            <a:r>
              <a:rPr lang="en-US" sz="950" dirty="0">
                <a:solidFill>
                  <a:srgbClr val="34495E"/>
                </a:solidFill>
                <a:latin typeface="Inter" pitchFamily="34" charset="0"/>
                <a:ea typeface="Inter" pitchFamily="34" charset="-122"/>
                <a:cs typeface="Inter" pitchFamily="34" charset="-120"/>
              </a:rPr>
              <a:t> Moving from research to clinical tools requires Explainable AI (XAI) to provide interpretable diagnostic evidence for physicians.</a:t>
            </a:r>
            <a:endParaRPr lang="en-US" sz="900" dirty="0"/>
          </a:p>
        </p:txBody>
      </p:sp>
      <p:pic>
        <p:nvPicPr>
          <p:cNvPr id="14" name="Image 5" descr="preencoded.png"/>
          <p:cNvPicPr>
            <a:picLocks noChangeAspect="1"/>
          </p:cNvPicPr>
          <p:nvPr/>
        </p:nvPicPr>
        <p:blipFill>
          <a:blip r:embed="rId8"/>
          <a:stretch>
            <a:fillRect/>
          </a:stretch>
        </p:blipFill>
        <p:spPr>
          <a:xfrm>
            <a:off x="4972050" y="2252067"/>
            <a:ext cx="85725" cy="114300"/>
          </a:xfrm>
          <a:prstGeom prst="rect">
            <a:avLst/>
          </a:prstGeom>
        </p:spPr>
      </p:pic>
      <p:sp>
        <p:nvSpPr>
          <p:cNvPr id="15" name="Text 7"/>
          <p:cNvSpPr/>
          <p:nvPr/>
        </p:nvSpPr>
        <p:spPr>
          <a:xfrm>
            <a:off x="5164931" y="2216348"/>
            <a:ext cx="3407569" cy="578644"/>
          </a:xfrm>
          <a:prstGeom prst="rect">
            <a:avLst/>
          </a:prstGeom>
          <a:noFill/>
          <a:ln/>
        </p:spPr>
        <p:txBody>
          <a:bodyPr wrap="square" lIns="0" tIns="0" rIns="0" bIns="0" rtlCol="0" anchor="t">
            <a:spAutoFit/>
          </a:bodyPr>
          <a:lstStyle/>
          <a:p>
            <a:pPr marL="0" indent="0" algn="l">
              <a:lnSpc>
                <a:spcPct val="120000"/>
              </a:lnSpc>
              <a:buNone/>
            </a:pPr>
            <a:r>
              <a:rPr lang="en-US" sz="900" b="1" dirty="0">
                <a:solidFill>
                  <a:srgbClr val="2C3E50"/>
                </a:solidFill>
                <a:latin typeface="Inter Bold" pitchFamily="34" charset="0"/>
                <a:ea typeface="Inter Bold" pitchFamily="34" charset="-122"/>
                <a:cs typeface="Inter Bold" pitchFamily="34" charset="-120"/>
              </a:rPr>
              <a:t>Wearable Monitoring:</a:t>
            </a:r>
            <a:r>
              <a:rPr lang="en-US" sz="950" dirty="0">
                <a:solidFill>
                  <a:srgbClr val="34495E"/>
                </a:solidFill>
                <a:latin typeface="Inter" pitchFamily="34" charset="0"/>
                <a:ea typeface="Inter" pitchFamily="34" charset="-122"/>
                <a:cs typeface="Inter" pitchFamily="34" charset="-120"/>
              </a:rPr>
              <a:t> Adapting these models for portable EEG devices could enable continuous, real-world assessment in schools and homes.</a:t>
            </a:r>
            <a:endParaRPr lang="en-US" sz="900" dirty="0"/>
          </a:p>
        </p:txBody>
      </p:sp>
      <p:pic>
        <p:nvPicPr>
          <p:cNvPr id="16" name="Image 6" descr="preencoded.png"/>
          <p:cNvPicPr>
            <a:picLocks noChangeAspect="1"/>
          </p:cNvPicPr>
          <p:nvPr/>
        </p:nvPicPr>
        <p:blipFill>
          <a:blip r:embed="rId9"/>
          <a:stretch>
            <a:fillRect/>
          </a:stretch>
        </p:blipFill>
        <p:spPr>
          <a:xfrm>
            <a:off x="4972050" y="2973586"/>
            <a:ext cx="114300" cy="114300"/>
          </a:xfrm>
          <a:prstGeom prst="rect">
            <a:avLst/>
          </a:prstGeom>
        </p:spPr>
      </p:pic>
      <p:sp>
        <p:nvSpPr>
          <p:cNvPr id="17" name="Text 8"/>
          <p:cNvSpPr/>
          <p:nvPr/>
        </p:nvSpPr>
        <p:spPr>
          <a:xfrm>
            <a:off x="5193506" y="2937867"/>
            <a:ext cx="3378994" cy="578644"/>
          </a:xfrm>
          <a:prstGeom prst="rect">
            <a:avLst/>
          </a:prstGeom>
          <a:noFill/>
          <a:ln/>
        </p:spPr>
        <p:txBody>
          <a:bodyPr wrap="square" lIns="0" tIns="0" rIns="0" bIns="0" rtlCol="0" anchor="t">
            <a:spAutoFit/>
          </a:bodyPr>
          <a:lstStyle/>
          <a:p>
            <a:pPr marL="0" indent="0" algn="l">
              <a:lnSpc>
                <a:spcPct val="120000"/>
              </a:lnSpc>
              <a:buNone/>
            </a:pPr>
            <a:r>
              <a:rPr lang="en-US" sz="900" b="1" dirty="0">
                <a:solidFill>
                  <a:srgbClr val="2C3E50"/>
                </a:solidFill>
                <a:latin typeface="Inter Bold" pitchFamily="34" charset="0"/>
                <a:ea typeface="Inter Bold" pitchFamily="34" charset="-122"/>
                <a:cs typeface="Inter Bold" pitchFamily="34" charset="-120"/>
              </a:rPr>
              <a:t>Severity Prediction:</a:t>
            </a:r>
            <a:r>
              <a:rPr lang="en-US" sz="950" dirty="0">
                <a:solidFill>
                  <a:srgbClr val="34495E"/>
                </a:solidFill>
                <a:latin typeface="Inter" pitchFamily="34" charset="0"/>
                <a:ea typeface="Inter" pitchFamily="34" charset="-122"/>
                <a:cs typeface="Inter" pitchFamily="34" charset="-120"/>
              </a:rPr>
              <a:t> Future research will likely focus on predicting ADHD severity levels rather than simple binary classification.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642938" y="564356"/>
            <a:ext cx="7858125" cy="754335"/>
          </a:xfrm>
          <a:prstGeom prst="rect">
            <a:avLst/>
          </a:prstGeom>
          <a:noFill/>
          <a:ln/>
        </p:spPr>
        <p:txBody>
          <a:bodyPr wrap="square" lIns="0" tIns="0" rIns="0" bIns="0" rtlCol="0" anchor="t">
            <a:spAutoFit/>
          </a:bodyPr>
          <a:lstStyle/>
          <a:p>
            <a:pPr marL="0" indent="0" algn="l">
              <a:lnSpc>
                <a:spcPct val="88000"/>
              </a:lnSpc>
              <a:buNone/>
            </a:pPr>
            <a:r>
              <a:rPr lang="en-US" sz="2450" b="1" dirty="0">
                <a:solidFill>
                  <a:srgbClr val="0F172A"/>
                </a:solidFill>
                <a:latin typeface="Montserrat ExtraBold" pitchFamily="34" charset="0"/>
                <a:ea typeface="Montserrat ExtraBold" pitchFamily="34" charset="-122"/>
                <a:cs typeface="Montserrat ExtraBold" pitchFamily="34" charset="-120"/>
              </a:rPr>
              <a:t>Subjective Clinical Assessment Creates Critical Gaps in Schizophrenia Diagnosis</a:t>
            </a:r>
            <a:endParaRPr lang="en-US" sz="2450" dirty="0"/>
          </a:p>
        </p:txBody>
      </p:sp>
      <p:sp>
        <p:nvSpPr>
          <p:cNvPr id="5" name="Text 1"/>
          <p:cNvSpPr/>
          <p:nvPr/>
        </p:nvSpPr>
        <p:spPr>
          <a:xfrm>
            <a:off x="642938" y="1647304"/>
            <a:ext cx="7858125" cy="822927"/>
          </a:xfrm>
          <a:prstGeom prst="rect">
            <a:avLst/>
          </a:prstGeom>
          <a:noFill/>
          <a:ln/>
        </p:spPr>
        <p:txBody>
          <a:bodyPr wrap="square" lIns="0" tIns="0" rIns="0" bIns="0" rtlCol="0" anchor="t">
            <a:spAutoFit/>
          </a:bodyPr>
          <a:lstStyle/>
          <a:p>
            <a:pPr marL="0" indent="0" algn="l">
              <a:lnSpc>
                <a:spcPct val="128000"/>
              </a:lnSpc>
              <a:buNone/>
            </a:pPr>
            <a:r>
              <a:rPr lang="en-US" sz="1250" dirty="0">
                <a:solidFill>
                  <a:srgbClr val="334155"/>
                </a:solidFill>
                <a:latin typeface="Inter" pitchFamily="34" charset="0"/>
                <a:ea typeface="Inter" pitchFamily="34" charset="-122"/>
                <a:cs typeface="Inter" pitchFamily="34" charset="-120"/>
              </a:rPr>
              <a:t>Schizophrenia is a complex chronic brain disorder affecting millions globally. A major diagnostic challenge is the reliance on traditional visual assessment of EEG signals, which is time-consuming and inherently subjective, leading to inconsistent clinical outcomes.</a:t>
            </a:r>
            <a:endParaRPr lang="en-US" sz="1250" dirty="0"/>
          </a:p>
        </p:txBody>
      </p:sp>
      <p:sp>
        <p:nvSpPr>
          <p:cNvPr id="6" name="Text 2"/>
          <p:cNvSpPr/>
          <p:nvPr/>
        </p:nvSpPr>
        <p:spPr>
          <a:xfrm>
            <a:off x="642938" y="2784556"/>
            <a:ext cx="2524116" cy="414338"/>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Inter ExtraBold" pitchFamily="34" charset="0"/>
                <a:ea typeface="Inter ExtraBold" pitchFamily="34" charset="-122"/>
                <a:cs typeface="Inter ExtraBold" pitchFamily="34" charset="-120"/>
              </a:rPr>
              <a:t>Chronic</a:t>
            </a:r>
            <a:endParaRPr lang="en-US" sz="2450" dirty="0"/>
          </a:p>
        </p:txBody>
      </p:sp>
      <p:sp>
        <p:nvSpPr>
          <p:cNvPr id="7" name="Text 3"/>
          <p:cNvSpPr/>
          <p:nvPr/>
        </p:nvSpPr>
        <p:spPr>
          <a:xfrm>
            <a:off x="642938" y="3234612"/>
            <a:ext cx="2524116" cy="155377"/>
          </a:xfrm>
          <a:prstGeom prst="rect">
            <a:avLst/>
          </a:prstGeom>
          <a:noFill/>
          <a:ln/>
        </p:spPr>
        <p:txBody>
          <a:bodyPr wrap="square" lIns="0" tIns="0" rIns="0" bIns="0" rtlCol="0" anchor="t">
            <a:spAutoFit/>
          </a:bodyPr>
          <a:lstStyle/>
          <a:p>
            <a:pPr marL="0" indent="0" algn="l">
              <a:buNone/>
            </a:pPr>
            <a:r>
              <a:rPr lang="en-US" sz="900" b="1" dirty="0">
                <a:solidFill>
                  <a:srgbClr val="0284C7"/>
                </a:solidFill>
                <a:latin typeface="Inter ExtraBold" pitchFamily="34" charset="0"/>
                <a:ea typeface="Inter ExtraBold" pitchFamily="34" charset="-122"/>
                <a:cs typeface="Inter ExtraBold" pitchFamily="34" charset="-120"/>
              </a:rPr>
              <a:t>Brain Disorder</a:t>
            </a:r>
            <a:endParaRPr lang="en-US" sz="900" dirty="0"/>
          </a:p>
        </p:txBody>
      </p:sp>
      <p:sp>
        <p:nvSpPr>
          <p:cNvPr id="8" name="Text 4"/>
          <p:cNvSpPr/>
          <p:nvPr/>
        </p:nvSpPr>
        <p:spPr>
          <a:xfrm>
            <a:off x="642938" y="3461426"/>
            <a:ext cx="2524116"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334155"/>
                </a:solidFill>
                <a:latin typeface="Inter" pitchFamily="34" charset="0"/>
                <a:ea typeface="Inter" pitchFamily="34" charset="-122"/>
                <a:cs typeface="Inter" pitchFamily="34" charset="-120"/>
              </a:rPr>
              <a:t>Characterized by cognitive deficits, hallucinations, and delusions.</a:t>
            </a:r>
            <a:endParaRPr lang="en-US" sz="850" dirty="0"/>
          </a:p>
        </p:txBody>
      </p:sp>
      <p:sp>
        <p:nvSpPr>
          <p:cNvPr id="9" name="Text 5"/>
          <p:cNvSpPr/>
          <p:nvPr/>
        </p:nvSpPr>
        <p:spPr>
          <a:xfrm>
            <a:off x="3309928" y="2784556"/>
            <a:ext cx="2524116" cy="414338"/>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Inter ExtraBold" pitchFamily="34" charset="0"/>
                <a:ea typeface="Inter ExtraBold" pitchFamily="34" charset="-122"/>
                <a:cs typeface="Inter ExtraBold" pitchFamily="34" charset="-120"/>
              </a:rPr>
              <a:t>Subjective</a:t>
            </a:r>
            <a:endParaRPr lang="en-US" sz="2450" dirty="0"/>
          </a:p>
        </p:txBody>
      </p:sp>
      <p:sp>
        <p:nvSpPr>
          <p:cNvPr id="10" name="Text 6"/>
          <p:cNvSpPr/>
          <p:nvPr/>
        </p:nvSpPr>
        <p:spPr>
          <a:xfrm>
            <a:off x="3309928" y="3234612"/>
            <a:ext cx="2524116" cy="155377"/>
          </a:xfrm>
          <a:prstGeom prst="rect">
            <a:avLst/>
          </a:prstGeom>
          <a:noFill/>
          <a:ln/>
        </p:spPr>
        <p:txBody>
          <a:bodyPr wrap="square" lIns="0" tIns="0" rIns="0" bIns="0" rtlCol="0" anchor="t">
            <a:spAutoFit/>
          </a:bodyPr>
          <a:lstStyle/>
          <a:p>
            <a:pPr marL="0" indent="0" algn="l">
              <a:buNone/>
            </a:pPr>
            <a:r>
              <a:rPr lang="en-US" sz="900" b="1" dirty="0">
                <a:solidFill>
                  <a:srgbClr val="0284C7"/>
                </a:solidFill>
                <a:latin typeface="Inter ExtraBold" pitchFamily="34" charset="0"/>
                <a:ea typeface="Inter ExtraBold" pitchFamily="34" charset="-122"/>
                <a:cs typeface="Inter ExtraBold" pitchFamily="34" charset="-120"/>
              </a:rPr>
              <a:t>Visual Assessment</a:t>
            </a:r>
            <a:endParaRPr lang="en-US" sz="900" dirty="0"/>
          </a:p>
        </p:txBody>
      </p:sp>
      <p:sp>
        <p:nvSpPr>
          <p:cNvPr id="11" name="Text 7"/>
          <p:cNvSpPr/>
          <p:nvPr/>
        </p:nvSpPr>
        <p:spPr>
          <a:xfrm>
            <a:off x="3309928" y="3461426"/>
            <a:ext cx="2524116"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334155"/>
                </a:solidFill>
                <a:latin typeface="Inter" pitchFamily="34" charset="0"/>
                <a:ea typeface="Inter" pitchFamily="34" charset="-122"/>
                <a:cs typeface="Inter" pitchFamily="34" charset="-120"/>
              </a:rPr>
              <a:t>Traditional EEG interpretation is time-consuming and expertise-dependent.</a:t>
            </a:r>
            <a:endParaRPr lang="en-US" sz="850" dirty="0"/>
          </a:p>
        </p:txBody>
      </p:sp>
      <p:sp>
        <p:nvSpPr>
          <p:cNvPr id="12" name="Text 8"/>
          <p:cNvSpPr/>
          <p:nvPr/>
        </p:nvSpPr>
        <p:spPr>
          <a:xfrm>
            <a:off x="5976919" y="2784556"/>
            <a:ext cx="2524144" cy="414338"/>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Inter ExtraBold" pitchFamily="34" charset="0"/>
                <a:ea typeface="Inter ExtraBold" pitchFamily="34" charset="-122"/>
                <a:cs typeface="Inter ExtraBold" pitchFamily="34" charset="-120"/>
              </a:rPr>
              <a:t>Objective</a:t>
            </a:r>
            <a:endParaRPr lang="en-US" sz="2450" dirty="0"/>
          </a:p>
        </p:txBody>
      </p:sp>
      <p:sp>
        <p:nvSpPr>
          <p:cNvPr id="13" name="Text 9"/>
          <p:cNvSpPr/>
          <p:nvPr/>
        </p:nvSpPr>
        <p:spPr>
          <a:xfrm>
            <a:off x="5976919" y="3234612"/>
            <a:ext cx="2524144" cy="155377"/>
          </a:xfrm>
          <a:prstGeom prst="rect">
            <a:avLst/>
          </a:prstGeom>
          <a:noFill/>
          <a:ln/>
        </p:spPr>
        <p:txBody>
          <a:bodyPr wrap="square" lIns="0" tIns="0" rIns="0" bIns="0" rtlCol="0" anchor="t">
            <a:spAutoFit/>
          </a:bodyPr>
          <a:lstStyle/>
          <a:p>
            <a:pPr marL="0" indent="0" algn="l">
              <a:buNone/>
            </a:pPr>
            <a:r>
              <a:rPr lang="en-US" sz="900" b="1" dirty="0">
                <a:solidFill>
                  <a:srgbClr val="0284C7"/>
                </a:solidFill>
                <a:latin typeface="Inter ExtraBold" pitchFamily="34" charset="0"/>
                <a:ea typeface="Inter ExtraBold" pitchFamily="34" charset="-122"/>
                <a:cs typeface="Inter ExtraBold" pitchFamily="34" charset="-120"/>
              </a:rPr>
              <a:t>Clinical Need</a:t>
            </a:r>
            <a:endParaRPr lang="en-US" sz="900" dirty="0"/>
          </a:p>
        </p:txBody>
      </p:sp>
      <p:sp>
        <p:nvSpPr>
          <p:cNvPr id="14" name="Text 10"/>
          <p:cNvSpPr/>
          <p:nvPr/>
        </p:nvSpPr>
        <p:spPr>
          <a:xfrm>
            <a:off x="5976919" y="3461426"/>
            <a:ext cx="2524144"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334155"/>
                </a:solidFill>
                <a:latin typeface="Inter" pitchFamily="34" charset="0"/>
                <a:ea typeface="Inter" pitchFamily="34" charset="-122"/>
                <a:cs typeface="Inter" pitchFamily="34" charset="-120"/>
              </a:rPr>
              <a:t>Early and accurate diagnosis is essential for effective management.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642938" y="428625"/>
            <a:ext cx="7858125" cy="548618"/>
          </a:xfrm>
          <a:prstGeom prst="rect">
            <a:avLst/>
          </a:prstGeom>
          <a:noFill/>
          <a:ln/>
        </p:spPr>
        <p:txBody>
          <a:bodyPr wrap="square" lIns="0" tIns="0" rIns="0" bIns="0" rtlCol="0" anchor="t">
            <a:spAutoFit/>
          </a:bodyPr>
          <a:lstStyle/>
          <a:p>
            <a:pPr marL="0" indent="0" algn="l">
              <a:lnSpc>
                <a:spcPct val="96000"/>
              </a:lnSpc>
              <a:buNone/>
            </a:pPr>
            <a:r>
              <a:rPr lang="en-US" sz="1600" b="1" dirty="0">
                <a:solidFill>
                  <a:srgbClr val="0F172A"/>
                </a:solidFill>
                <a:latin typeface="Montserrat ExtraBold" pitchFamily="34" charset="0"/>
                <a:ea typeface="Montserrat ExtraBold" pitchFamily="34" charset="-122"/>
                <a:cs typeface="Montserrat ExtraBold" pitchFamily="34" charset="-120"/>
              </a:rPr>
              <a:t>Mutation-Boosted Optimization and Hybrid Deep Learning Enhance EEG Analysis</a:t>
            </a:r>
            <a:endParaRPr lang="en-US" sz="1600" dirty="0"/>
          </a:p>
        </p:txBody>
      </p:sp>
      <p:sp>
        <p:nvSpPr>
          <p:cNvPr id="5" name="Text 1"/>
          <p:cNvSpPr/>
          <p:nvPr/>
        </p:nvSpPr>
        <p:spPr>
          <a:xfrm>
            <a:off x="642938" y="1384436"/>
            <a:ext cx="3441976" cy="173236"/>
          </a:xfrm>
          <a:prstGeom prst="rect">
            <a:avLst/>
          </a:prstGeom>
          <a:noFill/>
          <a:ln/>
        </p:spPr>
        <p:txBody>
          <a:bodyPr wrap="square" lIns="0" tIns="0" rIns="0" bIns="0" rtlCol="0" anchor="t">
            <a:spAutoFit/>
          </a:bodyPr>
          <a:lstStyle/>
          <a:p>
            <a:pPr marL="0" indent="0" algn="l">
              <a:buNone/>
            </a:pPr>
            <a:r>
              <a:rPr lang="en-US" sz="1000" b="1" dirty="0">
                <a:solidFill>
                  <a:srgbClr val="0F172A"/>
                </a:solidFill>
                <a:latin typeface="Inter ExtraBold" pitchFamily="34" charset="0"/>
                <a:ea typeface="Inter ExtraBold" pitchFamily="34" charset="-122"/>
                <a:cs typeface="Inter ExtraBold" pitchFamily="34" charset="-120"/>
              </a:rPr>
              <a:t>MAO Preprocessing Optimization</a:t>
            </a:r>
            <a:endParaRPr lang="en-US" sz="1000" dirty="0"/>
          </a:p>
        </p:txBody>
      </p:sp>
      <p:sp>
        <p:nvSpPr>
          <p:cNvPr id="6" name="Text 2"/>
          <p:cNvSpPr/>
          <p:nvPr/>
        </p:nvSpPr>
        <p:spPr>
          <a:xfrm>
            <a:off x="642938" y="1614822"/>
            <a:ext cx="3441976" cy="365727"/>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334155"/>
                </a:solidFill>
                <a:latin typeface="Inter" pitchFamily="34" charset="0"/>
                <a:ea typeface="Inter" pitchFamily="34" charset="-122"/>
                <a:cs typeface="Inter" pitchFamily="34" charset="-120"/>
              </a:rPr>
              <a:t>Mutation-boosted Archimedes Optimization dynamically adjusts parameters to enhance signal quality and reduce noise.</a:t>
            </a:r>
            <a:endParaRPr lang="en-US" sz="850" dirty="0"/>
          </a:p>
        </p:txBody>
      </p:sp>
      <p:sp>
        <p:nvSpPr>
          <p:cNvPr id="7" name="Text 3"/>
          <p:cNvSpPr/>
          <p:nvPr/>
        </p:nvSpPr>
        <p:spPr>
          <a:xfrm>
            <a:off x="642938" y="2144855"/>
            <a:ext cx="3441976" cy="173236"/>
          </a:xfrm>
          <a:prstGeom prst="rect">
            <a:avLst/>
          </a:prstGeom>
          <a:noFill/>
          <a:ln/>
        </p:spPr>
        <p:txBody>
          <a:bodyPr wrap="square" lIns="0" tIns="0" rIns="0" bIns="0" rtlCol="0" anchor="t">
            <a:spAutoFit/>
          </a:bodyPr>
          <a:lstStyle/>
          <a:p>
            <a:pPr marL="0" indent="0" algn="l">
              <a:buNone/>
            </a:pPr>
            <a:r>
              <a:rPr lang="en-US" sz="1000" b="1" dirty="0">
                <a:solidFill>
                  <a:srgbClr val="0F172A"/>
                </a:solidFill>
                <a:latin typeface="Inter ExtraBold" pitchFamily="34" charset="0"/>
                <a:ea typeface="Inter ExtraBold" pitchFamily="34" charset="-122"/>
                <a:cs typeface="Inter ExtraBold" pitchFamily="34" charset="-120"/>
              </a:rPr>
              <a:t>Hybrid CNN-LSTM Architecture</a:t>
            </a:r>
            <a:endParaRPr lang="en-US" sz="1000" dirty="0"/>
          </a:p>
        </p:txBody>
      </p:sp>
      <p:sp>
        <p:nvSpPr>
          <p:cNvPr id="8" name="Text 4"/>
          <p:cNvSpPr/>
          <p:nvPr/>
        </p:nvSpPr>
        <p:spPr>
          <a:xfrm>
            <a:off x="642938" y="2375241"/>
            <a:ext cx="3441976" cy="365727"/>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334155"/>
                </a:solidFill>
                <a:latin typeface="Inter" pitchFamily="34" charset="0"/>
                <a:ea typeface="Inter" pitchFamily="34" charset="-122"/>
                <a:cs typeface="Inter" pitchFamily="34" charset="-120"/>
              </a:rPr>
              <a:t>Extracts complex spatial features via CNN and captures long-term temporal dependencies using LSTM networks.</a:t>
            </a:r>
            <a:endParaRPr lang="en-US" sz="850" dirty="0"/>
          </a:p>
        </p:txBody>
      </p:sp>
      <p:sp>
        <p:nvSpPr>
          <p:cNvPr id="9" name="Text 5"/>
          <p:cNvSpPr/>
          <p:nvPr/>
        </p:nvSpPr>
        <p:spPr>
          <a:xfrm>
            <a:off x="642938" y="2905274"/>
            <a:ext cx="3441976" cy="173236"/>
          </a:xfrm>
          <a:prstGeom prst="rect">
            <a:avLst/>
          </a:prstGeom>
          <a:noFill/>
          <a:ln/>
        </p:spPr>
        <p:txBody>
          <a:bodyPr wrap="square" lIns="0" tIns="0" rIns="0" bIns="0" rtlCol="0" anchor="t">
            <a:spAutoFit/>
          </a:bodyPr>
          <a:lstStyle/>
          <a:p>
            <a:pPr marL="0" indent="0" algn="l">
              <a:buNone/>
            </a:pPr>
            <a:r>
              <a:rPr lang="en-US" sz="1000" b="1" dirty="0">
                <a:solidFill>
                  <a:srgbClr val="0F172A"/>
                </a:solidFill>
                <a:latin typeface="Inter ExtraBold" pitchFamily="34" charset="0"/>
                <a:ea typeface="Inter ExtraBold" pitchFamily="34" charset="-122"/>
                <a:cs typeface="Inter ExtraBold" pitchFamily="34" charset="-120"/>
              </a:rPr>
              <a:t>Entropy-Related Feature Fusion</a:t>
            </a:r>
            <a:endParaRPr lang="en-US" sz="1000" dirty="0"/>
          </a:p>
        </p:txBody>
      </p:sp>
      <p:sp>
        <p:nvSpPr>
          <p:cNvPr id="10" name="Text 6"/>
          <p:cNvSpPr/>
          <p:nvPr/>
        </p:nvSpPr>
        <p:spPr>
          <a:xfrm>
            <a:off x="642938" y="3135660"/>
            <a:ext cx="3441976" cy="365727"/>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334155"/>
                </a:solidFill>
                <a:latin typeface="Inter" pitchFamily="34" charset="0"/>
                <a:ea typeface="Inter" pitchFamily="34" charset="-122"/>
                <a:cs typeface="Inter" pitchFamily="34" charset="-120"/>
              </a:rPr>
              <a:t>Integrates spectral and permutation entropy to capture intricate EEG complexity for robust classification.</a:t>
            </a:r>
            <a:endParaRPr lang="en-US" sz="850" dirty="0"/>
          </a:p>
        </p:txBody>
      </p:sp>
      <p:sp>
        <p:nvSpPr>
          <p:cNvPr id="11" name="Shape 7"/>
          <p:cNvSpPr/>
          <p:nvPr/>
        </p:nvSpPr>
        <p:spPr>
          <a:xfrm>
            <a:off x="4370663" y="1320143"/>
            <a:ext cx="4130399" cy="3378994"/>
          </a:xfrm>
          <a:prstGeom prst="rect">
            <a:avLst/>
          </a:prstGeom>
          <a:solidFill>
            <a:srgbClr val="F8FAFC"/>
          </a:solidFill>
          <a:ln/>
        </p:spPr>
      </p:sp>
      <p:sp>
        <p:nvSpPr>
          <p:cNvPr id="12" name="Shape 8"/>
          <p:cNvSpPr/>
          <p:nvPr/>
        </p:nvSpPr>
        <p:spPr>
          <a:xfrm>
            <a:off x="5421437" y="1463018"/>
            <a:ext cx="2028825" cy="321469"/>
          </a:xfrm>
          <a:prstGeom prst="rect">
            <a:avLst/>
          </a:prstGeom>
          <a:solidFill>
            <a:srgbClr val="FFFFFF"/>
          </a:solidFill>
          <a:ln w="18288">
            <a:solidFill>
              <a:srgbClr val="0F172A"/>
            </a:solidFill>
            <a:prstDash val="solid"/>
          </a:ln>
        </p:spPr>
      </p:sp>
      <p:sp>
        <p:nvSpPr>
          <p:cNvPr id="13" name="Text 9"/>
          <p:cNvSpPr/>
          <p:nvPr/>
        </p:nvSpPr>
        <p:spPr>
          <a:xfrm>
            <a:off x="5421437" y="1463018"/>
            <a:ext cx="2028825" cy="321469"/>
          </a:xfrm>
          <a:prstGeom prst="rect">
            <a:avLst/>
          </a:prstGeom>
          <a:noFill/>
          <a:ln/>
        </p:spPr>
        <p:txBody>
          <a:bodyPr wrap="square" lIns="0" tIns="102108" rIns="0" bIns="102108" rtlCol="0" anchor="t">
            <a:spAutoFit/>
          </a:bodyPr>
          <a:lstStyle/>
          <a:p>
            <a:pPr marL="0" indent="0" algn="ctr">
              <a:buNone/>
            </a:pPr>
            <a:r>
              <a:rPr lang="en-US" sz="700" b="1" dirty="0">
                <a:solidFill>
                  <a:srgbClr val="0F172A"/>
                </a:solidFill>
                <a:latin typeface="Inter ExtraBold" pitchFamily="34" charset="0"/>
                <a:ea typeface="Inter ExtraBold" pitchFamily="34" charset="-122"/>
                <a:cs typeface="Inter ExtraBold" pitchFamily="34" charset="-120"/>
              </a:rPr>
              <a:t>MULTICHANNEL EEG DATA</a:t>
            </a:r>
            <a:endParaRPr lang="en-US" sz="700" dirty="0"/>
          </a:p>
        </p:txBody>
      </p:sp>
      <p:sp>
        <p:nvSpPr>
          <p:cNvPr id="14" name="Shape 10"/>
          <p:cNvSpPr/>
          <p:nvPr/>
        </p:nvSpPr>
        <p:spPr>
          <a:xfrm>
            <a:off x="5421437" y="1977368"/>
            <a:ext cx="2028825" cy="321469"/>
          </a:xfrm>
          <a:prstGeom prst="rect">
            <a:avLst/>
          </a:prstGeom>
          <a:solidFill>
            <a:srgbClr val="0284C7"/>
          </a:solidFill>
          <a:ln w="18288">
            <a:solidFill>
              <a:srgbClr val="0284C7"/>
            </a:solidFill>
            <a:prstDash val="solid"/>
          </a:ln>
        </p:spPr>
      </p:sp>
      <p:sp>
        <p:nvSpPr>
          <p:cNvPr id="15" name="Text 11"/>
          <p:cNvSpPr/>
          <p:nvPr/>
        </p:nvSpPr>
        <p:spPr>
          <a:xfrm>
            <a:off x="5421437" y="1977368"/>
            <a:ext cx="2028825" cy="321469"/>
          </a:xfrm>
          <a:prstGeom prst="rect">
            <a:avLst/>
          </a:prstGeom>
          <a:noFill/>
          <a:ln/>
        </p:spPr>
        <p:txBody>
          <a:bodyPr wrap="square" lIns="0" tIns="102108" rIns="0" bIns="102108" rtlCol="0" anchor="t">
            <a:spAutoFit/>
          </a:bodyPr>
          <a:lstStyle/>
          <a:p>
            <a:pPr marL="0" indent="0" algn="ctr">
              <a:buNone/>
            </a:pPr>
            <a:r>
              <a:rPr lang="en-US" sz="700" b="1" dirty="0">
                <a:solidFill>
                  <a:srgbClr val="FFFFFF"/>
                </a:solidFill>
                <a:latin typeface="Inter ExtraBold" pitchFamily="34" charset="0"/>
                <a:ea typeface="Inter ExtraBold" pitchFamily="34" charset="-122"/>
                <a:cs typeface="Inter ExtraBold" pitchFamily="34" charset="-120"/>
              </a:rPr>
              <a:t>MAO PREPROCESSING</a:t>
            </a:r>
            <a:endParaRPr lang="en-US" sz="700" dirty="0"/>
          </a:p>
        </p:txBody>
      </p:sp>
      <p:sp>
        <p:nvSpPr>
          <p:cNvPr id="16" name="Shape 12"/>
          <p:cNvSpPr/>
          <p:nvPr/>
        </p:nvSpPr>
        <p:spPr>
          <a:xfrm>
            <a:off x="5421437" y="2491718"/>
            <a:ext cx="2028825" cy="321469"/>
          </a:xfrm>
          <a:prstGeom prst="rect">
            <a:avLst/>
          </a:prstGeom>
          <a:solidFill>
            <a:srgbClr val="FFFFFF"/>
          </a:solidFill>
          <a:ln w="18288">
            <a:solidFill>
              <a:srgbClr val="0F172A"/>
            </a:solidFill>
            <a:prstDash val="solid"/>
          </a:ln>
        </p:spPr>
      </p:sp>
      <p:sp>
        <p:nvSpPr>
          <p:cNvPr id="17" name="Text 13"/>
          <p:cNvSpPr/>
          <p:nvPr/>
        </p:nvSpPr>
        <p:spPr>
          <a:xfrm>
            <a:off x="5421437" y="2491718"/>
            <a:ext cx="2028825" cy="321469"/>
          </a:xfrm>
          <a:prstGeom prst="rect">
            <a:avLst/>
          </a:prstGeom>
          <a:noFill/>
          <a:ln/>
        </p:spPr>
        <p:txBody>
          <a:bodyPr wrap="square" lIns="0" tIns="102108" rIns="0" bIns="102108" rtlCol="0" anchor="t">
            <a:spAutoFit/>
          </a:bodyPr>
          <a:lstStyle/>
          <a:p>
            <a:pPr marL="0" indent="0" algn="ctr">
              <a:buNone/>
            </a:pPr>
            <a:r>
              <a:rPr lang="en-US" sz="700" b="1" dirty="0">
                <a:solidFill>
                  <a:srgbClr val="0F172A"/>
                </a:solidFill>
                <a:latin typeface="Inter ExtraBold" pitchFamily="34" charset="0"/>
                <a:ea typeface="Inter ExtraBold" pitchFamily="34" charset="-122"/>
                <a:cs typeface="Inter ExtraBold" pitchFamily="34" charset="-120"/>
              </a:rPr>
              <a:t>CNN (SPATIAL PATTERNS)</a:t>
            </a:r>
            <a:endParaRPr lang="en-US" sz="700" dirty="0"/>
          </a:p>
        </p:txBody>
      </p:sp>
      <p:sp>
        <p:nvSpPr>
          <p:cNvPr id="18" name="Shape 14"/>
          <p:cNvSpPr/>
          <p:nvPr/>
        </p:nvSpPr>
        <p:spPr>
          <a:xfrm>
            <a:off x="5421437" y="3006068"/>
            <a:ext cx="2028825" cy="321469"/>
          </a:xfrm>
          <a:prstGeom prst="rect">
            <a:avLst/>
          </a:prstGeom>
          <a:solidFill>
            <a:srgbClr val="FFFFFF"/>
          </a:solidFill>
          <a:ln w="18288">
            <a:solidFill>
              <a:srgbClr val="0F172A"/>
            </a:solidFill>
            <a:prstDash val="solid"/>
          </a:ln>
        </p:spPr>
      </p:sp>
      <p:sp>
        <p:nvSpPr>
          <p:cNvPr id="19" name="Text 15"/>
          <p:cNvSpPr/>
          <p:nvPr/>
        </p:nvSpPr>
        <p:spPr>
          <a:xfrm>
            <a:off x="5421437" y="3006068"/>
            <a:ext cx="2028825" cy="321469"/>
          </a:xfrm>
          <a:prstGeom prst="rect">
            <a:avLst/>
          </a:prstGeom>
          <a:noFill/>
          <a:ln/>
        </p:spPr>
        <p:txBody>
          <a:bodyPr wrap="square" lIns="0" tIns="102108" rIns="0" bIns="102108" rtlCol="0" anchor="t">
            <a:spAutoFit/>
          </a:bodyPr>
          <a:lstStyle/>
          <a:p>
            <a:pPr marL="0" indent="0" algn="ctr">
              <a:buNone/>
            </a:pPr>
            <a:r>
              <a:rPr lang="en-US" sz="700" b="1" dirty="0">
                <a:solidFill>
                  <a:srgbClr val="0F172A"/>
                </a:solidFill>
                <a:latin typeface="Inter ExtraBold" pitchFamily="34" charset="0"/>
                <a:ea typeface="Inter ExtraBold" pitchFamily="34" charset="-122"/>
                <a:cs typeface="Inter ExtraBold" pitchFamily="34" charset="-120"/>
              </a:rPr>
              <a:t>LSTM (TEMPORAL PATTERNS)</a:t>
            </a:r>
            <a:endParaRPr lang="en-US" sz="700" dirty="0"/>
          </a:p>
        </p:txBody>
      </p:sp>
      <p:sp>
        <p:nvSpPr>
          <p:cNvPr id="20" name="Shape 16"/>
          <p:cNvSpPr/>
          <p:nvPr/>
        </p:nvSpPr>
        <p:spPr>
          <a:xfrm>
            <a:off x="5421437" y="3520418"/>
            <a:ext cx="2028825" cy="321469"/>
          </a:xfrm>
          <a:prstGeom prst="rect">
            <a:avLst/>
          </a:prstGeom>
          <a:solidFill>
            <a:srgbClr val="FFFFFF"/>
          </a:solidFill>
          <a:ln w="18288">
            <a:solidFill>
              <a:srgbClr val="0F172A"/>
            </a:solidFill>
            <a:prstDash val="solid"/>
          </a:ln>
        </p:spPr>
      </p:sp>
      <p:sp>
        <p:nvSpPr>
          <p:cNvPr id="21" name="Text 17"/>
          <p:cNvSpPr/>
          <p:nvPr/>
        </p:nvSpPr>
        <p:spPr>
          <a:xfrm>
            <a:off x="5421437" y="3520418"/>
            <a:ext cx="2028825" cy="321469"/>
          </a:xfrm>
          <a:prstGeom prst="rect">
            <a:avLst/>
          </a:prstGeom>
          <a:noFill/>
          <a:ln/>
        </p:spPr>
        <p:txBody>
          <a:bodyPr wrap="square" lIns="0" tIns="102108" rIns="0" bIns="102108" rtlCol="0" anchor="t">
            <a:spAutoFit/>
          </a:bodyPr>
          <a:lstStyle/>
          <a:p>
            <a:pPr marL="0" indent="0" algn="ctr">
              <a:buNone/>
            </a:pPr>
            <a:r>
              <a:rPr lang="en-US" sz="700" b="1" dirty="0">
                <a:solidFill>
                  <a:srgbClr val="0F172A"/>
                </a:solidFill>
                <a:latin typeface="Inter ExtraBold" pitchFamily="34" charset="0"/>
                <a:ea typeface="Inter ExtraBold" pitchFamily="34" charset="-122"/>
                <a:cs typeface="Inter ExtraBold" pitchFamily="34" charset="-120"/>
              </a:rPr>
              <a:t>ENTROPY FEATURE INTEGRATION</a:t>
            </a:r>
            <a:endParaRPr lang="en-US" sz="700" dirty="0"/>
          </a:p>
        </p:txBody>
      </p:sp>
      <p:sp>
        <p:nvSpPr>
          <p:cNvPr id="22" name="Shape 18"/>
          <p:cNvSpPr/>
          <p:nvPr/>
        </p:nvSpPr>
        <p:spPr>
          <a:xfrm>
            <a:off x="5421437" y="4034768"/>
            <a:ext cx="2028825" cy="321469"/>
          </a:xfrm>
          <a:prstGeom prst="rect">
            <a:avLst/>
          </a:prstGeom>
          <a:solidFill>
            <a:srgbClr val="0D9488"/>
          </a:solidFill>
          <a:ln w="18288">
            <a:solidFill>
              <a:srgbClr val="0D9488"/>
            </a:solidFill>
            <a:prstDash val="solid"/>
          </a:ln>
        </p:spPr>
      </p:sp>
      <p:sp>
        <p:nvSpPr>
          <p:cNvPr id="23" name="Text 19"/>
          <p:cNvSpPr/>
          <p:nvPr/>
        </p:nvSpPr>
        <p:spPr>
          <a:xfrm>
            <a:off x="5421437" y="4034768"/>
            <a:ext cx="2028825" cy="321469"/>
          </a:xfrm>
          <a:prstGeom prst="rect">
            <a:avLst/>
          </a:prstGeom>
          <a:noFill/>
          <a:ln/>
        </p:spPr>
        <p:txBody>
          <a:bodyPr wrap="square" lIns="0" tIns="102108" rIns="0" bIns="102108" rtlCol="0" anchor="t">
            <a:spAutoFit/>
          </a:bodyPr>
          <a:lstStyle/>
          <a:p>
            <a:pPr marL="0" indent="0" algn="ctr">
              <a:buNone/>
            </a:pPr>
            <a:r>
              <a:rPr lang="en-US" sz="700" b="1" dirty="0">
                <a:solidFill>
                  <a:srgbClr val="FFFFFF"/>
                </a:solidFill>
                <a:latin typeface="Inter ExtraBold" pitchFamily="34" charset="0"/>
                <a:ea typeface="Inter ExtraBold" pitchFamily="34" charset="-122"/>
                <a:cs typeface="Inter ExtraBold" pitchFamily="34" charset="-120"/>
              </a:rPr>
              <a:t>SCHIZOPHRENIA DETECTION</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7150" y="57150"/>
            <a:ext cx="9029700" cy="5143500"/>
          </a:xfrm>
          <a:prstGeom prst="rect">
            <a:avLst/>
          </a:prstGeom>
        </p:spPr>
      </p:pic>
      <p:sp>
        <p:nvSpPr>
          <p:cNvPr id="4" name="Text 0"/>
          <p:cNvSpPr/>
          <p:nvPr/>
        </p:nvSpPr>
        <p:spPr>
          <a:xfrm>
            <a:off x="700088" y="485775"/>
            <a:ext cx="7858125" cy="548618"/>
          </a:xfrm>
          <a:prstGeom prst="rect">
            <a:avLst/>
          </a:prstGeom>
          <a:noFill/>
          <a:ln/>
        </p:spPr>
        <p:txBody>
          <a:bodyPr wrap="square" lIns="0" tIns="0" rIns="0" bIns="0" rtlCol="0" anchor="t">
            <a:spAutoFit/>
          </a:bodyPr>
          <a:lstStyle/>
          <a:p>
            <a:pPr marL="0" indent="0" algn="l">
              <a:lnSpc>
                <a:spcPct val="96000"/>
              </a:lnSpc>
              <a:buNone/>
            </a:pPr>
            <a:r>
              <a:rPr lang="en-US" sz="1600" b="1" dirty="0">
                <a:solidFill>
                  <a:srgbClr val="0F172A"/>
                </a:solidFill>
                <a:latin typeface="Montserrat ExtraBold" pitchFamily="34" charset="0"/>
                <a:ea typeface="Montserrat ExtraBold" pitchFamily="34" charset="-122"/>
                <a:cs typeface="Montserrat ExtraBold" pitchFamily="34" charset="-120"/>
              </a:rPr>
              <a:t>MAO-CNN-LSTM Pipeline Achieves State-of-the-Art Diagnostic Performance</a:t>
            </a:r>
            <a:endParaRPr lang="en-US" sz="1600" dirty="0"/>
          </a:p>
        </p:txBody>
      </p:sp>
      <p:sp>
        <p:nvSpPr>
          <p:cNvPr id="5" name="Text 1"/>
          <p:cNvSpPr/>
          <p:nvPr/>
        </p:nvSpPr>
        <p:spPr>
          <a:xfrm>
            <a:off x="700088" y="1505880"/>
            <a:ext cx="3377040" cy="61715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334155"/>
                </a:solidFill>
                <a:latin typeface="Inter" pitchFamily="34" charset="0"/>
                <a:ea typeface="Inter" pitchFamily="34" charset="-122"/>
                <a:cs typeface="Inter" pitchFamily="34" charset="-120"/>
              </a:rPr>
              <a:t>The proposed approach surpasses existing techniques, achieving an exceptional </a:t>
            </a:r>
            <a:r>
              <a:rPr lang="en-US" sz="900" b="1" dirty="0">
                <a:solidFill>
                  <a:srgbClr val="334155"/>
                </a:solidFill>
                <a:latin typeface="Inter ExtraBold" pitchFamily="34" charset="0"/>
                <a:ea typeface="Inter ExtraBold" pitchFamily="34" charset="-122"/>
                <a:cs typeface="Inter ExtraBold" pitchFamily="34" charset="-120"/>
              </a:rPr>
              <a:t>accuracy of 98.2%</a:t>
            </a:r>
            <a:r>
              <a:rPr lang="en-US" sz="950" dirty="0">
                <a:solidFill>
                  <a:srgbClr val="334155"/>
                </a:solidFill>
                <a:latin typeface="Inter" pitchFamily="34" charset="0"/>
                <a:ea typeface="Inter" pitchFamily="34" charset="-122"/>
                <a:cs typeface="Inter" pitchFamily="34" charset="-120"/>
              </a:rPr>
              <a:t> and </a:t>
            </a:r>
            <a:r>
              <a:rPr lang="en-US" sz="900" b="1" dirty="0">
                <a:solidFill>
                  <a:srgbClr val="334155"/>
                </a:solidFill>
                <a:latin typeface="Inter ExtraBold" pitchFamily="34" charset="0"/>
                <a:ea typeface="Inter ExtraBold" pitchFamily="34" charset="-122"/>
                <a:cs typeface="Inter ExtraBold" pitchFamily="34" charset="-120"/>
              </a:rPr>
              <a:t>precision of 98.5%</a:t>
            </a:r>
            <a:r>
              <a:rPr lang="en-US" sz="950" dirty="0">
                <a:solidFill>
                  <a:srgbClr val="334155"/>
                </a:solidFill>
                <a:latin typeface="Inter" pitchFamily="34" charset="0"/>
                <a:ea typeface="Inter" pitchFamily="34" charset="-122"/>
                <a:cs typeface="Inter" pitchFamily="34" charset="-120"/>
              </a:rPr>
              <a:t>.</a:t>
            </a:r>
            <a:endParaRPr lang="en-US" sz="950" dirty="0"/>
          </a:p>
        </p:txBody>
      </p:sp>
      <p:sp>
        <p:nvSpPr>
          <p:cNvPr id="6" name="Text 2"/>
          <p:cNvSpPr/>
          <p:nvPr/>
        </p:nvSpPr>
        <p:spPr>
          <a:xfrm>
            <a:off x="700088" y="2458789"/>
            <a:ext cx="3377040" cy="173236"/>
          </a:xfrm>
          <a:prstGeom prst="rect">
            <a:avLst/>
          </a:prstGeom>
          <a:noFill/>
          <a:ln/>
        </p:spPr>
        <p:txBody>
          <a:bodyPr wrap="square" lIns="0" tIns="0" rIns="0" bIns="0" rtlCol="0" anchor="t">
            <a:spAutoFit/>
          </a:bodyPr>
          <a:lstStyle/>
          <a:p>
            <a:pPr marL="0" indent="0" algn="l">
              <a:buNone/>
            </a:pPr>
            <a:r>
              <a:rPr lang="en-US" sz="1000" b="1" dirty="0">
                <a:solidFill>
                  <a:srgbClr val="0D9488"/>
                </a:solidFill>
                <a:latin typeface="Inter ExtraBold" pitchFamily="34" charset="0"/>
                <a:ea typeface="Inter ExtraBold" pitchFamily="34" charset="-122"/>
                <a:cs typeface="Inter ExtraBold" pitchFamily="34" charset="-120"/>
              </a:rPr>
              <a:t>Improved Signal Quality</a:t>
            </a:r>
            <a:endParaRPr lang="en-US" sz="1000" dirty="0"/>
          </a:p>
        </p:txBody>
      </p:sp>
      <p:sp>
        <p:nvSpPr>
          <p:cNvPr id="7" name="Text 3"/>
          <p:cNvSpPr/>
          <p:nvPr/>
        </p:nvSpPr>
        <p:spPr>
          <a:xfrm>
            <a:off x="700088" y="2760613"/>
            <a:ext cx="3377040" cy="61715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334155"/>
                </a:solidFill>
                <a:latin typeface="Inter" pitchFamily="34" charset="0"/>
                <a:ea typeface="Inter" pitchFamily="34" charset="-122"/>
                <a:cs typeface="Inter" pitchFamily="34" charset="-120"/>
              </a:rPr>
              <a:t>The MAO algorithm significantly enhances Signal-to-Noise Ratio (SNR) and reduces artifact rejection rates, ensuring reliable data for clinical analysis.</a:t>
            </a:r>
            <a:endParaRPr lang="en-US" sz="950" dirty="0"/>
          </a:p>
        </p:txBody>
      </p:sp>
      <p:sp>
        <p:nvSpPr>
          <p:cNvPr id="8" name="Shape 4"/>
          <p:cNvSpPr/>
          <p:nvPr/>
        </p:nvSpPr>
        <p:spPr>
          <a:xfrm>
            <a:off x="4505753" y="1377293"/>
            <a:ext cx="4052460" cy="3071813"/>
          </a:xfrm>
          <a:prstGeom prst="rect">
            <a:avLst/>
          </a:prstGeom>
          <a:solidFill>
            <a:srgbClr val="F8FAFC"/>
          </a:solidFill>
          <a:ln/>
        </p:spPr>
      </p:sp>
      <p:pic>
        <p:nvPicPr>
          <p:cNvPr id="9" name="Image 1" descr="preencoded.png"/>
          <p:cNvPicPr>
            <a:picLocks noChangeAspect="1"/>
          </p:cNvPicPr>
          <p:nvPr/>
        </p:nvPicPr>
        <p:blipFill>
          <a:blip r:embed="rId4"/>
          <a:stretch>
            <a:fillRect/>
          </a:stretch>
        </p:blipFill>
        <p:spPr>
          <a:xfrm>
            <a:off x="4505753" y="1591605"/>
            <a:ext cx="4052292" cy="2857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642938" y="421481"/>
            <a:ext cx="7858125" cy="548618"/>
          </a:xfrm>
          <a:prstGeom prst="rect">
            <a:avLst/>
          </a:prstGeom>
          <a:noFill/>
          <a:ln/>
        </p:spPr>
        <p:txBody>
          <a:bodyPr wrap="square" lIns="0" tIns="0" rIns="0" bIns="0" rtlCol="0" anchor="t">
            <a:spAutoFit/>
          </a:bodyPr>
          <a:lstStyle/>
          <a:p>
            <a:pPr marL="0" indent="0" algn="l">
              <a:lnSpc>
                <a:spcPct val="96000"/>
              </a:lnSpc>
              <a:buNone/>
            </a:pPr>
            <a:r>
              <a:rPr lang="en-US" sz="1600" b="1" dirty="0">
                <a:solidFill>
                  <a:srgbClr val="0F172A"/>
                </a:solidFill>
                <a:latin typeface="Montserrat ExtraBold" pitchFamily="34" charset="0"/>
                <a:ea typeface="Montserrat ExtraBold" pitchFamily="34" charset="-122"/>
                <a:cs typeface="Montserrat ExtraBold" pitchFamily="34" charset="-120"/>
              </a:rPr>
              <a:t>Strategic Research Enhancements for Students in Neuro-Mental Health AI</a:t>
            </a:r>
            <a:endParaRPr lang="en-US" sz="1600" dirty="0"/>
          </a:p>
        </p:txBody>
      </p:sp>
      <p:sp>
        <p:nvSpPr>
          <p:cNvPr id="5" name="Text 1"/>
          <p:cNvSpPr/>
          <p:nvPr/>
        </p:nvSpPr>
        <p:spPr>
          <a:xfrm>
            <a:off x="642938" y="1312999"/>
            <a:ext cx="7858125"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334155"/>
                </a:solidFill>
                <a:latin typeface="Inter" pitchFamily="34" charset="0"/>
                <a:ea typeface="Inter" pitchFamily="34" charset="-122"/>
                <a:cs typeface="Inter" pitchFamily="34" charset="-120"/>
              </a:rPr>
              <a:t>Students can build upon this research by focusing on several key enhancement areas to transition the model from a research tool to a clinical standard.</a:t>
            </a:r>
            <a:endParaRPr lang="en-US" sz="950" dirty="0"/>
          </a:p>
        </p:txBody>
      </p:sp>
      <p:sp>
        <p:nvSpPr>
          <p:cNvPr id="6" name="Shape 2"/>
          <p:cNvSpPr/>
          <p:nvPr/>
        </p:nvSpPr>
        <p:spPr>
          <a:xfrm>
            <a:off x="642938" y="1938747"/>
            <a:ext cx="1964531" cy="371475"/>
          </a:xfrm>
          <a:prstGeom prst="rect">
            <a:avLst/>
          </a:prstGeom>
          <a:solidFill>
            <a:srgbClr val="0F172A"/>
          </a:solidFill>
          <a:ln/>
        </p:spPr>
      </p:sp>
      <p:sp>
        <p:nvSpPr>
          <p:cNvPr id="7" name="Text 3"/>
          <p:cNvSpPr/>
          <p:nvPr/>
        </p:nvSpPr>
        <p:spPr>
          <a:xfrm>
            <a:off x="642938" y="1938747"/>
            <a:ext cx="1964531" cy="371475"/>
          </a:xfrm>
          <a:prstGeom prst="rect">
            <a:avLst/>
          </a:prstGeom>
          <a:noFill/>
          <a:ln/>
        </p:spPr>
        <p:txBody>
          <a:bodyPr wrap="square" lIns="170053" tIns="127508" rIns="8509" bIns="127508" rtlCol="0" anchor="ctr">
            <a:spAutoFit/>
          </a:bodyPr>
          <a:lstStyle/>
          <a:p>
            <a:pPr marL="0" indent="0" algn="l">
              <a:buNone/>
            </a:pPr>
            <a:r>
              <a:rPr lang="en-US" sz="900" b="1" dirty="0">
                <a:solidFill>
                  <a:srgbClr val="FFFFFF"/>
                </a:solidFill>
                <a:latin typeface="Montserrat ExtraBold" pitchFamily="34" charset="0"/>
                <a:ea typeface="Montserrat ExtraBold" pitchFamily="34" charset="-122"/>
                <a:cs typeface="Montserrat ExtraBold" pitchFamily="34" charset="-120"/>
              </a:rPr>
              <a:t>Research Area</a:t>
            </a:r>
            <a:endParaRPr lang="en-US" sz="900" dirty="0"/>
          </a:p>
        </p:txBody>
      </p:sp>
      <p:sp>
        <p:nvSpPr>
          <p:cNvPr id="8" name="Shape 4"/>
          <p:cNvSpPr/>
          <p:nvPr/>
        </p:nvSpPr>
        <p:spPr>
          <a:xfrm>
            <a:off x="2607469" y="1938747"/>
            <a:ext cx="5893594" cy="371475"/>
          </a:xfrm>
          <a:prstGeom prst="rect">
            <a:avLst/>
          </a:prstGeom>
          <a:solidFill>
            <a:srgbClr val="0F172A"/>
          </a:solidFill>
          <a:ln/>
        </p:spPr>
      </p:sp>
      <p:sp>
        <p:nvSpPr>
          <p:cNvPr id="9" name="Text 5"/>
          <p:cNvSpPr/>
          <p:nvPr/>
        </p:nvSpPr>
        <p:spPr>
          <a:xfrm>
            <a:off x="2607469" y="1938747"/>
            <a:ext cx="5893594" cy="371475"/>
          </a:xfrm>
          <a:prstGeom prst="rect">
            <a:avLst/>
          </a:prstGeom>
          <a:noFill/>
          <a:ln/>
        </p:spPr>
        <p:txBody>
          <a:bodyPr wrap="square" lIns="170053" tIns="127508" rIns="8509" bIns="127508" rtlCol="0" anchor="ctr">
            <a:spAutoFit/>
          </a:bodyPr>
          <a:lstStyle/>
          <a:p>
            <a:pPr marL="0" indent="0" algn="l">
              <a:buNone/>
            </a:pPr>
            <a:r>
              <a:rPr lang="en-US" sz="900" b="1" dirty="0">
                <a:solidFill>
                  <a:srgbClr val="FFFFFF"/>
                </a:solidFill>
                <a:latin typeface="Montserrat ExtraBold" pitchFamily="34" charset="0"/>
                <a:ea typeface="Montserrat ExtraBold" pitchFamily="34" charset="-122"/>
                <a:cs typeface="Montserrat ExtraBold" pitchFamily="34" charset="-120"/>
              </a:rPr>
              <a:t>Potential Enhancement for Students</a:t>
            </a:r>
            <a:endParaRPr lang="en-US" sz="900" dirty="0"/>
          </a:p>
        </p:txBody>
      </p:sp>
      <p:sp>
        <p:nvSpPr>
          <p:cNvPr id="10" name="Text 6"/>
          <p:cNvSpPr/>
          <p:nvPr/>
        </p:nvSpPr>
        <p:spPr>
          <a:xfrm>
            <a:off x="642938" y="2310222"/>
            <a:ext cx="1964531" cy="389334"/>
          </a:xfrm>
          <a:prstGeom prst="rect">
            <a:avLst/>
          </a:prstGeom>
          <a:noFill/>
          <a:ln/>
        </p:spPr>
        <p:txBody>
          <a:bodyPr wrap="square" lIns="170053" tIns="127508" rIns="8509" bIns="127508" rtlCol="0" anchor="ctr">
            <a:spAutoFit/>
          </a:bodyPr>
          <a:lstStyle/>
          <a:p>
            <a:pPr marL="0" indent="0" algn="l">
              <a:lnSpc>
                <a:spcPct val="120000"/>
              </a:lnSpc>
              <a:buNone/>
            </a:pPr>
            <a:r>
              <a:rPr lang="en-US" sz="800" b="1" dirty="0">
                <a:solidFill>
                  <a:srgbClr val="0284C7"/>
                </a:solidFill>
                <a:latin typeface="Inter ExtraBold" pitchFamily="34" charset="0"/>
                <a:ea typeface="Inter ExtraBold" pitchFamily="34" charset="-122"/>
                <a:cs typeface="Inter ExtraBold" pitchFamily="34" charset="-120"/>
              </a:rPr>
              <a:t>Real-time Systems</a:t>
            </a:r>
            <a:endParaRPr lang="en-US" sz="800" dirty="0"/>
          </a:p>
        </p:txBody>
      </p:sp>
      <p:sp>
        <p:nvSpPr>
          <p:cNvPr id="11" name="Text 7"/>
          <p:cNvSpPr/>
          <p:nvPr/>
        </p:nvSpPr>
        <p:spPr>
          <a:xfrm>
            <a:off x="2607469" y="2310222"/>
            <a:ext cx="5893594" cy="389334"/>
          </a:xfrm>
          <a:prstGeom prst="rect">
            <a:avLst/>
          </a:prstGeom>
          <a:noFill/>
          <a:ln/>
        </p:spPr>
        <p:txBody>
          <a:bodyPr wrap="square" lIns="170053" tIns="127508" rIns="8509" bIns="127508" rtlCol="0" anchor="ctr">
            <a:spAutoFit/>
          </a:bodyPr>
          <a:lstStyle/>
          <a:p>
            <a:pPr marL="0" indent="0" algn="l">
              <a:lnSpc>
                <a:spcPct val="120000"/>
              </a:lnSpc>
              <a:buNone/>
            </a:pPr>
            <a:r>
              <a:rPr lang="en-US" sz="850" dirty="0">
                <a:solidFill>
                  <a:srgbClr val="334155"/>
                </a:solidFill>
                <a:latin typeface="Inter" pitchFamily="34" charset="0"/>
                <a:ea typeface="Inter" pitchFamily="34" charset="-122"/>
                <a:cs typeface="Inter" pitchFamily="34" charset="-120"/>
              </a:rPr>
              <a:t>Optimize the MAO-CNN-LSTM pipeline for real-time processing on portable EEG or mobile devices.</a:t>
            </a:r>
            <a:endParaRPr lang="en-US" sz="850" dirty="0"/>
          </a:p>
        </p:txBody>
      </p:sp>
      <p:sp>
        <p:nvSpPr>
          <p:cNvPr id="12" name="Shape 8"/>
          <p:cNvSpPr/>
          <p:nvPr/>
        </p:nvSpPr>
        <p:spPr>
          <a:xfrm>
            <a:off x="642938" y="2699556"/>
            <a:ext cx="7858125" cy="564356"/>
          </a:xfrm>
          <a:prstGeom prst="rect">
            <a:avLst/>
          </a:prstGeom>
          <a:solidFill>
            <a:srgbClr val="F8FAFC"/>
          </a:solidFill>
          <a:ln/>
        </p:spPr>
      </p:sp>
      <p:sp>
        <p:nvSpPr>
          <p:cNvPr id="13" name="Text 9"/>
          <p:cNvSpPr/>
          <p:nvPr/>
        </p:nvSpPr>
        <p:spPr>
          <a:xfrm>
            <a:off x="642938" y="2699556"/>
            <a:ext cx="1964531" cy="564356"/>
          </a:xfrm>
          <a:prstGeom prst="rect">
            <a:avLst/>
          </a:prstGeom>
          <a:noFill/>
          <a:ln/>
        </p:spPr>
        <p:txBody>
          <a:bodyPr wrap="square" lIns="170053" tIns="127508" rIns="8509" bIns="127508" rtlCol="0" anchor="ctr">
            <a:spAutoFit/>
          </a:bodyPr>
          <a:lstStyle/>
          <a:p>
            <a:pPr marL="0" indent="0" algn="l">
              <a:lnSpc>
                <a:spcPct val="120000"/>
              </a:lnSpc>
              <a:buNone/>
            </a:pPr>
            <a:r>
              <a:rPr lang="en-US" sz="800" b="1" dirty="0">
                <a:solidFill>
                  <a:srgbClr val="0284C7"/>
                </a:solidFill>
                <a:latin typeface="Inter ExtraBold" pitchFamily="34" charset="0"/>
                <a:ea typeface="Inter ExtraBold" pitchFamily="34" charset="-122"/>
                <a:cs typeface="Inter ExtraBold" pitchFamily="34" charset="-120"/>
              </a:rPr>
              <a:t>Explainable AI (XAI)</a:t>
            </a:r>
            <a:endParaRPr lang="en-US" sz="800" dirty="0"/>
          </a:p>
        </p:txBody>
      </p:sp>
      <p:sp>
        <p:nvSpPr>
          <p:cNvPr id="14" name="Text 10"/>
          <p:cNvSpPr/>
          <p:nvPr/>
        </p:nvSpPr>
        <p:spPr>
          <a:xfrm>
            <a:off x="2607469" y="2699556"/>
            <a:ext cx="5893594" cy="564356"/>
          </a:xfrm>
          <a:prstGeom prst="rect">
            <a:avLst/>
          </a:prstGeom>
          <a:noFill/>
          <a:ln/>
        </p:spPr>
        <p:txBody>
          <a:bodyPr wrap="square" lIns="170053" tIns="127508" rIns="8509" bIns="127508" rtlCol="0" anchor="ctr">
            <a:spAutoFit/>
          </a:bodyPr>
          <a:lstStyle/>
          <a:p>
            <a:pPr marL="0" indent="0" algn="l">
              <a:lnSpc>
                <a:spcPct val="120000"/>
              </a:lnSpc>
              <a:buNone/>
            </a:pPr>
            <a:r>
              <a:rPr lang="en-US" sz="850" dirty="0">
                <a:solidFill>
                  <a:srgbClr val="334155"/>
                </a:solidFill>
                <a:latin typeface="Inter" pitchFamily="34" charset="0"/>
                <a:ea typeface="Inter" pitchFamily="34" charset="-122"/>
                <a:cs typeface="Inter" pitchFamily="34" charset="-120"/>
              </a:rPr>
              <a:t>Apply XAI techniques to interpret the features learned by the CNN-LSTM, identifying specific EEG biomarkers.</a:t>
            </a:r>
            <a:endParaRPr lang="en-US" sz="850" dirty="0"/>
          </a:p>
        </p:txBody>
      </p:sp>
      <p:sp>
        <p:nvSpPr>
          <p:cNvPr id="15" name="Text 11"/>
          <p:cNvSpPr/>
          <p:nvPr/>
        </p:nvSpPr>
        <p:spPr>
          <a:xfrm>
            <a:off x="642938" y="3263912"/>
            <a:ext cx="1964531" cy="564356"/>
          </a:xfrm>
          <a:prstGeom prst="rect">
            <a:avLst/>
          </a:prstGeom>
          <a:noFill/>
          <a:ln/>
        </p:spPr>
        <p:txBody>
          <a:bodyPr wrap="square" lIns="170053" tIns="127508" rIns="8509" bIns="127508" rtlCol="0" anchor="ctr">
            <a:spAutoFit/>
          </a:bodyPr>
          <a:lstStyle/>
          <a:p>
            <a:pPr marL="0" indent="0" algn="l">
              <a:lnSpc>
                <a:spcPct val="120000"/>
              </a:lnSpc>
              <a:buNone/>
            </a:pPr>
            <a:r>
              <a:rPr lang="en-US" sz="800" b="1" dirty="0">
                <a:solidFill>
                  <a:srgbClr val="0284C7"/>
                </a:solidFill>
                <a:latin typeface="Inter ExtraBold" pitchFamily="34" charset="0"/>
                <a:ea typeface="Inter ExtraBold" pitchFamily="34" charset="-122"/>
                <a:cs typeface="Inter ExtraBold" pitchFamily="34" charset="-120"/>
              </a:rPr>
              <a:t>Multimodal Fusion</a:t>
            </a:r>
            <a:endParaRPr lang="en-US" sz="800" dirty="0"/>
          </a:p>
        </p:txBody>
      </p:sp>
      <p:sp>
        <p:nvSpPr>
          <p:cNvPr id="16" name="Text 12"/>
          <p:cNvSpPr/>
          <p:nvPr/>
        </p:nvSpPr>
        <p:spPr>
          <a:xfrm>
            <a:off x="2607469" y="3263912"/>
            <a:ext cx="5893594" cy="564356"/>
          </a:xfrm>
          <a:prstGeom prst="rect">
            <a:avLst/>
          </a:prstGeom>
          <a:noFill/>
          <a:ln/>
        </p:spPr>
        <p:txBody>
          <a:bodyPr wrap="square" lIns="170053" tIns="127508" rIns="8509" bIns="127508" rtlCol="0" anchor="ctr">
            <a:spAutoFit/>
          </a:bodyPr>
          <a:lstStyle/>
          <a:p>
            <a:pPr marL="0" indent="0" algn="l">
              <a:lnSpc>
                <a:spcPct val="120000"/>
              </a:lnSpc>
              <a:buNone/>
            </a:pPr>
            <a:r>
              <a:rPr lang="en-US" sz="850" dirty="0">
                <a:solidFill>
                  <a:srgbClr val="334155"/>
                </a:solidFill>
                <a:latin typeface="Inter" pitchFamily="34" charset="0"/>
                <a:ea typeface="Inter" pitchFamily="34" charset="-122"/>
                <a:cs typeface="Inter" pitchFamily="34" charset="-120"/>
              </a:rPr>
              <a:t>Integrate EEG with other neuroimaging modalities (fMRI, MRI) or genetic data for a more robust diagnostic profile.</a:t>
            </a:r>
            <a:endParaRPr lang="en-US" sz="850" dirty="0"/>
          </a:p>
        </p:txBody>
      </p:sp>
      <p:sp>
        <p:nvSpPr>
          <p:cNvPr id="17" name="Shape 13"/>
          <p:cNvSpPr/>
          <p:nvPr/>
        </p:nvSpPr>
        <p:spPr>
          <a:xfrm>
            <a:off x="642938" y="3828269"/>
            <a:ext cx="7858125" cy="392906"/>
          </a:xfrm>
          <a:prstGeom prst="rect">
            <a:avLst/>
          </a:prstGeom>
          <a:solidFill>
            <a:srgbClr val="F8FAFC"/>
          </a:solidFill>
          <a:ln/>
        </p:spPr>
      </p:sp>
      <p:sp>
        <p:nvSpPr>
          <p:cNvPr id="18" name="Text 14"/>
          <p:cNvSpPr/>
          <p:nvPr/>
        </p:nvSpPr>
        <p:spPr>
          <a:xfrm>
            <a:off x="642938" y="3828269"/>
            <a:ext cx="1964531" cy="392906"/>
          </a:xfrm>
          <a:prstGeom prst="rect">
            <a:avLst/>
          </a:prstGeom>
          <a:noFill/>
          <a:ln/>
        </p:spPr>
        <p:txBody>
          <a:bodyPr wrap="square" lIns="170053" tIns="127508" rIns="8509" bIns="127508" rtlCol="0" anchor="ctr">
            <a:spAutoFit/>
          </a:bodyPr>
          <a:lstStyle/>
          <a:p>
            <a:pPr marL="0" indent="0" algn="l">
              <a:lnSpc>
                <a:spcPct val="120000"/>
              </a:lnSpc>
              <a:buNone/>
            </a:pPr>
            <a:r>
              <a:rPr lang="en-US" sz="800" b="1" dirty="0">
                <a:solidFill>
                  <a:srgbClr val="0284C7"/>
                </a:solidFill>
                <a:latin typeface="Inter ExtraBold" pitchFamily="34" charset="0"/>
                <a:ea typeface="Inter ExtraBold" pitchFamily="34" charset="-122"/>
                <a:cs typeface="Inter ExtraBold" pitchFamily="34" charset="-120"/>
              </a:rPr>
              <a:t>Longitudinal Studies</a:t>
            </a:r>
            <a:endParaRPr lang="en-US" sz="800" dirty="0"/>
          </a:p>
        </p:txBody>
      </p:sp>
      <p:sp>
        <p:nvSpPr>
          <p:cNvPr id="19" name="Text 15"/>
          <p:cNvSpPr/>
          <p:nvPr/>
        </p:nvSpPr>
        <p:spPr>
          <a:xfrm>
            <a:off x="2607469" y="3828269"/>
            <a:ext cx="5893594" cy="392906"/>
          </a:xfrm>
          <a:prstGeom prst="rect">
            <a:avLst/>
          </a:prstGeom>
          <a:noFill/>
          <a:ln/>
        </p:spPr>
        <p:txBody>
          <a:bodyPr wrap="square" lIns="170053" tIns="127508" rIns="8509" bIns="127508" rtlCol="0" anchor="ctr">
            <a:spAutoFit/>
          </a:bodyPr>
          <a:lstStyle/>
          <a:p>
            <a:pPr marL="0" indent="0" algn="l">
              <a:lnSpc>
                <a:spcPct val="120000"/>
              </a:lnSpc>
              <a:buNone/>
            </a:pPr>
            <a:r>
              <a:rPr lang="en-US" sz="850" dirty="0">
                <a:solidFill>
                  <a:srgbClr val="334155"/>
                </a:solidFill>
                <a:latin typeface="Inter" pitchFamily="34" charset="0"/>
                <a:ea typeface="Inter" pitchFamily="34" charset="-122"/>
                <a:cs typeface="Inter" pitchFamily="34" charset="-120"/>
              </a:rPr>
              <a:t>Extend the research to track disease progression or predict treatment response in schizophrenia patients.</a:t>
            </a:r>
            <a:endParaRPr lang="en-US" sz="850" dirty="0"/>
          </a:p>
        </p:txBody>
      </p:sp>
      <p:sp>
        <p:nvSpPr>
          <p:cNvPr id="20" name="Text 16"/>
          <p:cNvSpPr/>
          <p:nvPr/>
        </p:nvSpPr>
        <p:spPr>
          <a:xfrm>
            <a:off x="642938" y="4221175"/>
            <a:ext cx="1964531" cy="564356"/>
          </a:xfrm>
          <a:prstGeom prst="rect">
            <a:avLst/>
          </a:prstGeom>
          <a:noFill/>
          <a:ln/>
        </p:spPr>
        <p:txBody>
          <a:bodyPr wrap="square" lIns="170053" tIns="127508" rIns="8509" bIns="127508" rtlCol="0" anchor="ctr">
            <a:spAutoFit/>
          </a:bodyPr>
          <a:lstStyle/>
          <a:p>
            <a:pPr marL="0" indent="0" algn="l">
              <a:lnSpc>
                <a:spcPct val="120000"/>
              </a:lnSpc>
              <a:buNone/>
            </a:pPr>
            <a:r>
              <a:rPr lang="en-US" sz="800" b="1" dirty="0">
                <a:solidFill>
                  <a:srgbClr val="0284C7"/>
                </a:solidFill>
                <a:latin typeface="Inter ExtraBold" pitchFamily="34" charset="0"/>
                <a:ea typeface="Inter ExtraBold" pitchFamily="34" charset="-122"/>
                <a:cs typeface="Inter ExtraBold" pitchFamily="34" charset="-120"/>
              </a:rPr>
              <a:t>Novel Architectures</a:t>
            </a:r>
            <a:endParaRPr lang="en-US" sz="800" dirty="0"/>
          </a:p>
        </p:txBody>
      </p:sp>
      <p:sp>
        <p:nvSpPr>
          <p:cNvPr id="21" name="Text 17"/>
          <p:cNvSpPr/>
          <p:nvPr/>
        </p:nvSpPr>
        <p:spPr>
          <a:xfrm>
            <a:off x="2607469" y="4221175"/>
            <a:ext cx="5893594" cy="564356"/>
          </a:xfrm>
          <a:prstGeom prst="rect">
            <a:avLst/>
          </a:prstGeom>
          <a:noFill/>
          <a:ln/>
        </p:spPr>
        <p:txBody>
          <a:bodyPr wrap="square" lIns="170053" tIns="127508" rIns="8509" bIns="127508" rtlCol="0" anchor="ctr">
            <a:spAutoFit/>
          </a:bodyPr>
          <a:lstStyle/>
          <a:p>
            <a:pPr marL="0" indent="0" algn="l">
              <a:lnSpc>
                <a:spcPct val="120000"/>
              </a:lnSpc>
              <a:buNone/>
            </a:pPr>
            <a:r>
              <a:rPr lang="en-US" sz="850" dirty="0">
                <a:solidFill>
                  <a:srgbClr val="334155"/>
                </a:solidFill>
                <a:latin typeface="Inter" pitchFamily="34" charset="0"/>
                <a:ea typeface="Inter" pitchFamily="34" charset="-122"/>
                <a:cs typeface="Inter" pitchFamily="34" charset="-120"/>
              </a:rPr>
              <a:t>Explore advanced transformer-based models for finer-grained spatiotemporal feature extraction from EEG.</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0" y="428625"/>
            <a:ext cx="9144000" cy="262533"/>
          </a:xfrm>
          <a:prstGeom prst="rect">
            <a:avLst/>
          </a:prstGeom>
          <a:noFill/>
          <a:ln/>
        </p:spPr>
        <p:txBody>
          <a:bodyPr wrap="square" lIns="0" tIns="0" rIns="0" bIns="0" rtlCol="0" anchor="t">
            <a:spAutoFit/>
          </a:bodyPr>
          <a:lstStyle/>
          <a:p>
            <a:pPr marL="0" indent="0" algn="ctr">
              <a:buNone/>
            </a:pPr>
            <a:r>
              <a:rPr lang="en-US" sz="1600" b="1" dirty="0">
                <a:solidFill>
                  <a:srgbClr val="2C3E50"/>
                </a:solidFill>
                <a:latin typeface="Inter Bold" pitchFamily="34" charset="0"/>
                <a:ea typeface="Inter Bold" pitchFamily="34" charset="-122"/>
                <a:cs typeface="Inter Bold" pitchFamily="34" charset="-120"/>
              </a:rPr>
              <a:t>References</a:t>
            </a:r>
            <a:endParaRPr lang="en-US" sz="1600" dirty="0"/>
          </a:p>
        </p:txBody>
      </p:sp>
      <p:sp>
        <p:nvSpPr>
          <p:cNvPr id="4" name="Shape 1"/>
          <p:cNvSpPr/>
          <p:nvPr/>
        </p:nvSpPr>
        <p:spPr>
          <a:xfrm>
            <a:off x="714375" y="1269802"/>
            <a:ext cx="531930" cy="155377"/>
          </a:xfrm>
          <a:prstGeom prst="rect">
            <a:avLst/>
          </a:prstGeom>
          <a:solidFill>
            <a:srgbClr val="3498DB"/>
          </a:solidFill>
          <a:ln/>
        </p:spPr>
      </p:sp>
      <p:sp>
        <p:nvSpPr>
          <p:cNvPr id="5" name="Text 2"/>
          <p:cNvSpPr/>
          <p:nvPr/>
        </p:nvSpPr>
        <p:spPr>
          <a:xfrm>
            <a:off x="714375" y="1269802"/>
            <a:ext cx="531930" cy="155377"/>
          </a:xfrm>
          <a:prstGeom prst="rect">
            <a:avLst/>
          </a:prstGeom>
          <a:noFill/>
          <a:ln/>
        </p:spPr>
        <p:txBody>
          <a:bodyPr wrap="none" lIns="102108" tIns="34036" rIns="102108" bIns="34036" rtlCol="0" anchor="t">
            <a:spAutoFit/>
          </a:bodyPr>
          <a:lstStyle/>
          <a:p>
            <a:pPr marL="0" indent="0" algn="l">
              <a:buNone/>
            </a:pPr>
            <a:r>
              <a:rPr lang="en-US" sz="600" b="1" dirty="0">
                <a:solidFill>
                  <a:srgbClr val="FFFFFF"/>
                </a:solidFill>
                <a:latin typeface="Inter Bold" pitchFamily="34" charset="0"/>
                <a:ea typeface="Inter Bold" pitchFamily="34" charset="-122"/>
                <a:cs typeface="Inter Bold" pitchFamily="34" charset="-120"/>
              </a:rPr>
              <a:t>PAPER 1</a:t>
            </a:r>
            <a:endParaRPr lang="en-US" sz="600" dirty="0"/>
          </a:p>
        </p:txBody>
      </p:sp>
      <p:sp>
        <p:nvSpPr>
          <p:cNvPr id="6" name="Text 3"/>
          <p:cNvSpPr/>
          <p:nvPr/>
        </p:nvSpPr>
        <p:spPr>
          <a:xfrm>
            <a:off x="714375" y="1496616"/>
            <a:ext cx="7715250" cy="146447"/>
          </a:xfrm>
          <a:prstGeom prst="rect">
            <a:avLst/>
          </a:prstGeom>
          <a:noFill/>
          <a:ln/>
        </p:spPr>
        <p:txBody>
          <a:bodyPr wrap="square" lIns="0" tIns="0" rIns="0" bIns="0" rtlCol="0" anchor="t">
            <a:spAutoFit/>
          </a:bodyPr>
          <a:lstStyle/>
          <a:p>
            <a:pPr marL="0" indent="0" algn="l">
              <a:buNone/>
            </a:pPr>
            <a:r>
              <a:rPr lang="en-US" sz="900" b="1" dirty="0">
                <a:solidFill>
                  <a:srgbClr val="2C3E50"/>
                </a:solidFill>
                <a:latin typeface="Inter Bold" pitchFamily="34" charset="0"/>
                <a:ea typeface="Inter Bold" pitchFamily="34" charset="-122"/>
                <a:cs typeface="Inter Bold" pitchFamily="34" charset="-120"/>
              </a:rPr>
              <a:t>Classification of Attention Deficit/Hyperactivity Disorder Based on EEG Signals Using an EEG-Transformer Model</a:t>
            </a:r>
            <a:endParaRPr lang="en-US" sz="900" dirty="0"/>
          </a:p>
        </p:txBody>
      </p:sp>
      <p:sp>
        <p:nvSpPr>
          <p:cNvPr id="7" name="Text 4"/>
          <p:cNvSpPr/>
          <p:nvPr/>
        </p:nvSpPr>
        <p:spPr>
          <a:xfrm>
            <a:off x="714375" y="1714500"/>
            <a:ext cx="7715250" cy="182863"/>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34495E"/>
                </a:solidFill>
                <a:latin typeface="Inter" pitchFamily="34" charset="0"/>
                <a:ea typeface="Inter" pitchFamily="34" charset="-122"/>
                <a:cs typeface="Inter" pitchFamily="34" charset="-120"/>
              </a:rPr>
              <a:t>He, Y., Wang, X., Yang, Z., et al. (2023). </a:t>
            </a:r>
            <a:r>
              <a:rPr lang="en-US" sz="850" i="1" dirty="0">
                <a:solidFill>
                  <a:srgbClr val="34495E"/>
                </a:solidFill>
                <a:latin typeface="Inter" pitchFamily="34" charset="0"/>
                <a:ea typeface="Inter" pitchFamily="34" charset="-122"/>
                <a:cs typeface="Inter" pitchFamily="34" charset="-120"/>
              </a:rPr>
              <a:t>Journal of Neural Engineering</a:t>
            </a:r>
            <a:r>
              <a:rPr lang="en-US" sz="850" dirty="0">
                <a:solidFill>
                  <a:srgbClr val="34495E"/>
                </a:solidFill>
                <a:latin typeface="Inter" pitchFamily="34" charset="0"/>
                <a:ea typeface="Inter" pitchFamily="34" charset="-122"/>
                <a:cs typeface="Inter" pitchFamily="34" charset="-120"/>
              </a:rPr>
              <a:t>, 20(5), 056013. DOI: 10.1088/1741-2552/acf7f5</a:t>
            </a:r>
            <a:endParaRPr lang="en-US" sz="850" dirty="0"/>
          </a:p>
        </p:txBody>
      </p:sp>
      <p:sp>
        <p:nvSpPr>
          <p:cNvPr id="8" name="Shape 5"/>
          <p:cNvSpPr/>
          <p:nvPr/>
        </p:nvSpPr>
        <p:spPr>
          <a:xfrm>
            <a:off x="714375" y="2333132"/>
            <a:ext cx="531930" cy="155377"/>
          </a:xfrm>
          <a:prstGeom prst="rect">
            <a:avLst/>
          </a:prstGeom>
          <a:solidFill>
            <a:srgbClr val="3498DB"/>
          </a:solidFill>
          <a:ln/>
        </p:spPr>
      </p:sp>
      <p:sp>
        <p:nvSpPr>
          <p:cNvPr id="9" name="Text 6"/>
          <p:cNvSpPr/>
          <p:nvPr/>
        </p:nvSpPr>
        <p:spPr>
          <a:xfrm>
            <a:off x="714375" y="2333132"/>
            <a:ext cx="531930" cy="155377"/>
          </a:xfrm>
          <a:prstGeom prst="rect">
            <a:avLst/>
          </a:prstGeom>
          <a:noFill/>
          <a:ln/>
        </p:spPr>
        <p:txBody>
          <a:bodyPr wrap="none" lIns="102108" tIns="34036" rIns="102108" bIns="34036" rtlCol="0" anchor="t">
            <a:spAutoFit/>
          </a:bodyPr>
          <a:lstStyle/>
          <a:p>
            <a:pPr marL="0" indent="0" algn="l">
              <a:buNone/>
            </a:pPr>
            <a:r>
              <a:rPr lang="en-US" sz="600" b="1" dirty="0">
                <a:solidFill>
                  <a:srgbClr val="FFFFFF"/>
                </a:solidFill>
                <a:latin typeface="Inter Bold" pitchFamily="34" charset="0"/>
                <a:ea typeface="Inter Bold" pitchFamily="34" charset="-122"/>
                <a:cs typeface="Inter Bold" pitchFamily="34" charset="-120"/>
              </a:rPr>
              <a:t>PAPER 2</a:t>
            </a:r>
            <a:endParaRPr lang="en-US" sz="600" dirty="0"/>
          </a:p>
        </p:txBody>
      </p:sp>
      <p:sp>
        <p:nvSpPr>
          <p:cNvPr id="10" name="Text 7"/>
          <p:cNvSpPr/>
          <p:nvPr/>
        </p:nvSpPr>
        <p:spPr>
          <a:xfrm>
            <a:off x="714375" y="2559946"/>
            <a:ext cx="7715250" cy="146447"/>
          </a:xfrm>
          <a:prstGeom prst="rect">
            <a:avLst/>
          </a:prstGeom>
          <a:noFill/>
          <a:ln/>
        </p:spPr>
        <p:txBody>
          <a:bodyPr wrap="square" lIns="0" tIns="0" rIns="0" bIns="0" rtlCol="0" anchor="t">
            <a:spAutoFit/>
          </a:bodyPr>
          <a:lstStyle/>
          <a:p>
            <a:pPr marL="0" indent="0" algn="l">
              <a:buNone/>
            </a:pPr>
            <a:r>
              <a:rPr lang="en-US" sz="900" b="1" dirty="0">
                <a:solidFill>
                  <a:srgbClr val="2C3E50"/>
                </a:solidFill>
                <a:latin typeface="Inter Bold" pitchFamily="34" charset="0"/>
                <a:ea typeface="Inter Bold" pitchFamily="34" charset="-122"/>
                <a:cs typeface="Inter Bold" pitchFamily="34" charset="-120"/>
              </a:rPr>
              <a:t>Neurological state changes indicative of ADHD in children learned via EEG-based LSTM networks</a:t>
            </a:r>
            <a:endParaRPr lang="en-US" sz="900" dirty="0"/>
          </a:p>
        </p:txBody>
      </p:sp>
      <p:sp>
        <p:nvSpPr>
          <p:cNvPr id="11" name="Text 8"/>
          <p:cNvSpPr/>
          <p:nvPr/>
        </p:nvSpPr>
        <p:spPr>
          <a:xfrm>
            <a:off x="714375" y="2777830"/>
            <a:ext cx="7715250" cy="182863"/>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34495E"/>
                </a:solidFill>
                <a:latin typeface="Inter" pitchFamily="34" charset="0"/>
                <a:ea typeface="Inter" pitchFamily="34" charset="-122"/>
                <a:cs typeface="Inter" pitchFamily="34" charset="-120"/>
              </a:rPr>
              <a:t>Chang, Y., Stevenson, C., Chen, I. C., et al. (2022). </a:t>
            </a:r>
            <a:r>
              <a:rPr lang="en-US" sz="850" i="1" dirty="0">
                <a:solidFill>
                  <a:srgbClr val="34495E"/>
                </a:solidFill>
                <a:latin typeface="Inter" pitchFamily="34" charset="0"/>
                <a:ea typeface="Inter" pitchFamily="34" charset="-122"/>
                <a:cs typeface="Inter" pitchFamily="34" charset="-120"/>
              </a:rPr>
              <a:t>Journal of Neural Engineering</a:t>
            </a:r>
            <a:r>
              <a:rPr lang="en-US" sz="850" dirty="0">
                <a:solidFill>
                  <a:srgbClr val="34495E"/>
                </a:solidFill>
                <a:latin typeface="Inter" pitchFamily="34" charset="0"/>
                <a:ea typeface="Inter" pitchFamily="34" charset="-122"/>
                <a:cs typeface="Inter" pitchFamily="34" charset="-120"/>
              </a:rPr>
              <a:t>, 19(1), 016021. DOI: 10.1088/1741-2552/ac4f07</a:t>
            </a:r>
            <a:endParaRPr lang="en-US" sz="850" dirty="0"/>
          </a:p>
        </p:txBody>
      </p:sp>
      <p:sp>
        <p:nvSpPr>
          <p:cNvPr id="12" name="Shape 9"/>
          <p:cNvSpPr/>
          <p:nvPr/>
        </p:nvSpPr>
        <p:spPr>
          <a:xfrm>
            <a:off x="714375" y="3396462"/>
            <a:ext cx="531930" cy="155377"/>
          </a:xfrm>
          <a:prstGeom prst="rect">
            <a:avLst/>
          </a:prstGeom>
          <a:solidFill>
            <a:srgbClr val="3498DB"/>
          </a:solidFill>
          <a:ln/>
        </p:spPr>
      </p:sp>
      <p:sp>
        <p:nvSpPr>
          <p:cNvPr id="13" name="Text 10"/>
          <p:cNvSpPr/>
          <p:nvPr/>
        </p:nvSpPr>
        <p:spPr>
          <a:xfrm>
            <a:off x="714375" y="3396462"/>
            <a:ext cx="531930" cy="155377"/>
          </a:xfrm>
          <a:prstGeom prst="rect">
            <a:avLst/>
          </a:prstGeom>
          <a:noFill/>
          <a:ln/>
        </p:spPr>
        <p:txBody>
          <a:bodyPr wrap="none" lIns="102108" tIns="34036" rIns="102108" bIns="34036" rtlCol="0" anchor="t">
            <a:spAutoFit/>
          </a:bodyPr>
          <a:lstStyle/>
          <a:p>
            <a:pPr marL="0" indent="0" algn="l">
              <a:buNone/>
            </a:pPr>
            <a:r>
              <a:rPr lang="en-US" sz="600" b="1" dirty="0">
                <a:solidFill>
                  <a:srgbClr val="FFFFFF"/>
                </a:solidFill>
                <a:latin typeface="Inter Bold" pitchFamily="34" charset="0"/>
                <a:ea typeface="Inter Bold" pitchFamily="34" charset="-122"/>
                <a:cs typeface="Inter Bold" pitchFamily="34" charset="-120"/>
              </a:rPr>
              <a:t>PAPER 3</a:t>
            </a:r>
            <a:endParaRPr lang="en-US" sz="600" dirty="0"/>
          </a:p>
        </p:txBody>
      </p:sp>
      <p:sp>
        <p:nvSpPr>
          <p:cNvPr id="14" name="Text 11"/>
          <p:cNvSpPr/>
          <p:nvPr/>
        </p:nvSpPr>
        <p:spPr>
          <a:xfrm>
            <a:off x="714375" y="3623277"/>
            <a:ext cx="7715250" cy="146447"/>
          </a:xfrm>
          <a:prstGeom prst="rect">
            <a:avLst/>
          </a:prstGeom>
          <a:noFill/>
          <a:ln/>
        </p:spPr>
        <p:txBody>
          <a:bodyPr wrap="square" lIns="0" tIns="0" rIns="0" bIns="0" rtlCol="0" anchor="t">
            <a:spAutoFit/>
          </a:bodyPr>
          <a:lstStyle/>
          <a:p>
            <a:pPr marL="0" indent="0" algn="l">
              <a:buNone/>
            </a:pPr>
            <a:r>
              <a:rPr lang="en-US" sz="900" b="1" dirty="0">
                <a:solidFill>
                  <a:srgbClr val="2C3E50"/>
                </a:solidFill>
                <a:latin typeface="Inter Bold" pitchFamily="34" charset="0"/>
                <a:ea typeface="Inter Bold" pitchFamily="34" charset="-122"/>
                <a:cs typeface="Inter Bold" pitchFamily="34" charset="-120"/>
              </a:rPr>
              <a:t>The Hybrid Deep Learning Model for Identification of Attention-Deficit/Hyperactivity Disorder Using EEG</a:t>
            </a:r>
            <a:endParaRPr lang="en-US" sz="900" dirty="0"/>
          </a:p>
        </p:txBody>
      </p:sp>
      <p:sp>
        <p:nvSpPr>
          <p:cNvPr id="15" name="Text 12"/>
          <p:cNvSpPr/>
          <p:nvPr/>
        </p:nvSpPr>
        <p:spPr>
          <a:xfrm>
            <a:off x="714375" y="3841161"/>
            <a:ext cx="7715250" cy="182863"/>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34495E"/>
                </a:solidFill>
                <a:latin typeface="Inter" pitchFamily="34" charset="0"/>
                <a:ea typeface="Inter" pitchFamily="34" charset="-122"/>
                <a:cs typeface="Inter" pitchFamily="34" charset="-120"/>
              </a:rPr>
              <a:t>Chugh, N., Aggarwal, S., &amp; Balyan, A. (2024). </a:t>
            </a:r>
            <a:r>
              <a:rPr lang="en-US" sz="850" i="1" dirty="0">
                <a:solidFill>
                  <a:srgbClr val="34495E"/>
                </a:solidFill>
                <a:latin typeface="Inter" pitchFamily="34" charset="0"/>
                <a:ea typeface="Inter" pitchFamily="34" charset="-122"/>
                <a:cs typeface="Inter" pitchFamily="34" charset="-120"/>
              </a:rPr>
              <a:t>Clinical EEG and Neuroscience</a:t>
            </a:r>
            <a:r>
              <a:rPr lang="en-US" sz="850" dirty="0">
                <a:solidFill>
                  <a:srgbClr val="34495E"/>
                </a:solidFill>
                <a:latin typeface="Inter" pitchFamily="34" charset="0"/>
                <a:ea typeface="Inter" pitchFamily="34" charset="-122"/>
                <a:cs typeface="Inter" pitchFamily="34" charset="-120"/>
              </a:rPr>
              <a:t>, 55(1), 22–33. DOI: 10.1177/15500594231193511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1711C95-046C-B3DC-2FFC-26F4D68D5007}"/>
              </a:ext>
            </a:extLst>
          </p:cNvPr>
          <p:cNvSpPr txBox="1"/>
          <p:nvPr/>
        </p:nvSpPr>
        <p:spPr>
          <a:xfrm>
            <a:off x="696686" y="156980"/>
            <a:ext cx="7344228" cy="5047536"/>
          </a:xfrm>
          <a:prstGeom prst="rect">
            <a:avLst/>
          </a:prstGeom>
          <a:noFill/>
        </p:spPr>
        <p:txBody>
          <a:bodyPr wrap="square">
            <a:spAutoFit/>
          </a:bodyPr>
          <a:lstStyle/>
          <a:p>
            <a:pPr>
              <a:buNone/>
            </a:pPr>
            <a:r>
              <a:rPr lang="en-IN" sz="1400" b="1" dirty="0"/>
              <a:t>DSM</a:t>
            </a:r>
            <a:r>
              <a:rPr lang="en-IN" sz="1400" dirty="0"/>
              <a:t> stands for:</a:t>
            </a:r>
          </a:p>
          <a:p>
            <a:pPr>
              <a:buNone/>
            </a:pPr>
            <a:r>
              <a:rPr lang="en-IN" sz="1400" b="1" dirty="0"/>
              <a:t>Diagnostic and Statistical Manual of Mental Disorders</a:t>
            </a:r>
          </a:p>
          <a:p>
            <a:pPr>
              <a:buNone/>
            </a:pPr>
            <a:r>
              <a:rPr lang="en-IN" sz="1400" dirty="0"/>
              <a:t>It is the official handbook used by psychiatrists and psychologists worldwide to diagnose mental and </a:t>
            </a:r>
            <a:r>
              <a:rPr lang="en-IN" sz="1400" dirty="0" err="1"/>
              <a:t>behavioral</a:t>
            </a:r>
            <a:r>
              <a:rPr lang="en-IN" sz="1400" dirty="0"/>
              <a:t> disorders.</a:t>
            </a:r>
          </a:p>
          <a:p>
            <a:pPr>
              <a:buNone/>
            </a:pPr>
            <a:endParaRPr lang="en-IN" sz="1400" dirty="0"/>
          </a:p>
          <a:p>
            <a:r>
              <a:rPr lang="en-IN" sz="1400" b="1" dirty="0"/>
              <a:t>Why is DSM Important?</a:t>
            </a:r>
          </a:p>
          <a:p>
            <a:r>
              <a:rPr lang="en-IN" sz="1400" dirty="0"/>
              <a:t>When a child is suspected of having ADHD, doctors do not immediately use EEG or MRI.</a:t>
            </a:r>
          </a:p>
          <a:p>
            <a:r>
              <a:rPr lang="en-IN" sz="1400" dirty="0"/>
              <a:t>Instead, they follow DSM-5 criteria.</a:t>
            </a:r>
          </a:p>
          <a:p>
            <a:endParaRPr lang="en-IN" sz="1400" dirty="0"/>
          </a:p>
          <a:p>
            <a:r>
              <a:rPr lang="en-IN" sz="1400" dirty="0"/>
              <a:t>Example:</a:t>
            </a:r>
          </a:p>
          <a:p>
            <a:endParaRPr lang="en-IN" sz="1400" dirty="0"/>
          </a:p>
          <a:p>
            <a:r>
              <a:rPr lang="en-IN" sz="1400" b="1" dirty="0"/>
              <a:t>ADHD Symptoms                        </a:t>
            </a:r>
          </a:p>
          <a:p>
            <a:r>
              <a:rPr lang="en-IN" sz="1400" b="1" dirty="0"/>
              <a:t>Inattention</a:t>
            </a:r>
          </a:p>
          <a:p>
            <a:r>
              <a:rPr lang="en-IN" sz="1400" dirty="0"/>
              <a:t>Cannot focus</a:t>
            </a:r>
            <a:br>
              <a:rPr lang="en-IN" sz="1400" dirty="0"/>
            </a:br>
            <a:r>
              <a:rPr lang="en-IN" sz="1400" dirty="0"/>
              <a:t>Makes careless mistakes</a:t>
            </a:r>
            <a:br>
              <a:rPr lang="en-IN" sz="1400" dirty="0"/>
            </a:br>
            <a:r>
              <a:rPr lang="en-IN" sz="1400" dirty="0"/>
              <a:t>Easily distracted</a:t>
            </a:r>
            <a:br>
              <a:rPr lang="en-IN" sz="1400" dirty="0"/>
            </a:br>
            <a:r>
              <a:rPr lang="en-IN" sz="1400" dirty="0"/>
              <a:t>Forgets things</a:t>
            </a:r>
          </a:p>
          <a:p>
            <a:endParaRPr lang="en-IN" sz="1400" dirty="0"/>
          </a:p>
          <a:p>
            <a:r>
              <a:rPr lang="en-IN" sz="1400" b="1" dirty="0"/>
              <a:t>Impulsivity</a:t>
            </a:r>
          </a:p>
          <a:p>
            <a:r>
              <a:rPr lang="en-IN" sz="1400" dirty="0"/>
              <a:t>Interrupts others</a:t>
            </a:r>
            <a:br>
              <a:rPr lang="en-IN" sz="1400" dirty="0"/>
            </a:br>
            <a:r>
              <a:rPr lang="en-IN" sz="1400" dirty="0"/>
              <a:t>Acts without thinking</a:t>
            </a:r>
            <a:br>
              <a:rPr lang="en-IN" sz="1400" dirty="0"/>
            </a:br>
            <a:r>
              <a:rPr lang="en-IN" sz="1400" dirty="0"/>
              <a:t>Cannot wait turn</a:t>
            </a:r>
          </a:p>
          <a:p>
            <a:pPr>
              <a:buNone/>
            </a:pPr>
            <a:endParaRPr lang="en-IN" sz="1400" dirty="0"/>
          </a:p>
        </p:txBody>
      </p:sp>
    </p:spTree>
    <p:extLst>
      <p:ext uri="{BB962C8B-B14F-4D97-AF65-F5344CB8AC3E}">
        <p14:creationId xmlns:p14="http://schemas.microsoft.com/office/powerpoint/2010/main" val="380352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AAE7E9-4371-E221-7E41-230BF84C9E19}"/>
              </a:ext>
            </a:extLst>
          </p:cNvPr>
          <p:cNvSpPr txBox="1"/>
          <p:nvPr/>
        </p:nvSpPr>
        <p:spPr>
          <a:xfrm>
            <a:off x="972457" y="432138"/>
            <a:ext cx="4572000" cy="2585323"/>
          </a:xfrm>
          <a:prstGeom prst="rect">
            <a:avLst/>
          </a:prstGeom>
          <a:noFill/>
        </p:spPr>
        <p:txBody>
          <a:bodyPr wrap="square">
            <a:spAutoFit/>
          </a:bodyPr>
          <a:lstStyle/>
          <a:p>
            <a:pPr>
              <a:buNone/>
            </a:pPr>
            <a:r>
              <a:rPr lang="en-IN" b="1" dirty="0"/>
              <a:t>If enough symptoms are present for:</a:t>
            </a:r>
          </a:p>
          <a:p>
            <a:pPr rtl="0">
              <a:buNone/>
            </a:pPr>
            <a:r>
              <a:rPr lang="en-IN" b="1" dirty="0"/>
              <a:t>At least 6 months</a:t>
            </a:r>
          </a:p>
          <a:p>
            <a:pPr>
              <a:buNone/>
            </a:pPr>
            <a:r>
              <a:rPr lang="en-IN" dirty="0"/>
              <a:t>and they affect:</a:t>
            </a:r>
          </a:p>
          <a:p>
            <a:pPr rtl="0">
              <a:buNone/>
            </a:pPr>
            <a:r>
              <a:rPr lang="en-IN" dirty="0"/>
              <a:t>School</a:t>
            </a:r>
            <a:br>
              <a:rPr lang="en-IN" dirty="0"/>
            </a:br>
            <a:r>
              <a:rPr lang="en-IN" dirty="0"/>
              <a:t>Home</a:t>
            </a:r>
            <a:br>
              <a:rPr lang="en-IN" dirty="0"/>
            </a:br>
            <a:r>
              <a:rPr lang="en-IN" dirty="0"/>
              <a:t>Social Life</a:t>
            </a:r>
          </a:p>
          <a:p>
            <a:pPr rtl="0">
              <a:buNone/>
            </a:pPr>
            <a:endParaRPr lang="en-IN" dirty="0"/>
          </a:p>
          <a:p>
            <a:pPr rtl="0">
              <a:buNone/>
            </a:pPr>
            <a:endParaRPr lang="en-IN" dirty="0"/>
          </a:p>
          <a:p>
            <a:pPr>
              <a:buNone/>
            </a:pPr>
            <a:r>
              <a:rPr lang="en-IN" dirty="0"/>
              <a:t>the child may be diagnosed with ADHD.</a:t>
            </a:r>
          </a:p>
        </p:txBody>
      </p:sp>
    </p:spTree>
    <p:extLst>
      <p:ext uri="{BB962C8B-B14F-4D97-AF65-F5344CB8AC3E}">
        <p14:creationId xmlns:p14="http://schemas.microsoft.com/office/powerpoint/2010/main" val="1660413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623FC3-D7E7-334C-2200-209510E5DA9F}"/>
              </a:ext>
            </a:extLst>
          </p:cNvPr>
          <p:cNvSpPr txBox="1"/>
          <p:nvPr/>
        </p:nvSpPr>
        <p:spPr>
          <a:xfrm>
            <a:off x="457200" y="171093"/>
            <a:ext cx="7148286" cy="4801314"/>
          </a:xfrm>
          <a:prstGeom prst="rect">
            <a:avLst/>
          </a:prstGeom>
          <a:noFill/>
        </p:spPr>
        <p:txBody>
          <a:bodyPr wrap="square">
            <a:spAutoFit/>
          </a:bodyPr>
          <a:lstStyle/>
          <a:p>
            <a:pPr>
              <a:buNone/>
            </a:pPr>
            <a:r>
              <a:rPr lang="en-IN" b="1" dirty="0"/>
              <a:t>Why Do These Papers Criticize DSM?</a:t>
            </a:r>
          </a:p>
          <a:p>
            <a:pPr>
              <a:buNone/>
            </a:pPr>
            <a:r>
              <a:rPr lang="en-IN" dirty="0"/>
              <a:t>All three ADHD papers mention the same problem:</a:t>
            </a:r>
          </a:p>
          <a:p>
            <a:pPr>
              <a:buNone/>
            </a:pPr>
            <a:r>
              <a:rPr lang="en-IN" b="1" dirty="0"/>
              <a:t>DSM-Based Diagnosis is Subjective</a:t>
            </a:r>
          </a:p>
          <a:p>
            <a:pPr>
              <a:buNone/>
            </a:pPr>
            <a:r>
              <a:rPr lang="en-IN" dirty="0"/>
              <a:t>Because diagnosis depends on:</a:t>
            </a:r>
          </a:p>
          <a:p>
            <a:pPr rtl="0">
              <a:buNone/>
            </a:pPr>
            <a:r>
              <a:rPr lang="en-IN" dirty="0"/>
              <a:t>Doctor's Judgment</a:t>
            </a:r>
            <a:br>
              <a:rPr lang="en-IN" dirty="0"/>
            </a:br>
            <a:r>
              <a:rPr lang="en-IN" dirty="0"/>
              <a:t>Parent Feedback</a:t>
            </a:r>
            <a:br>
              <a:rPr lang="en-IN" dirty="0"/>
            </a:br>
            <a:r>
              <a:rPr lang="en-IN" dirty="0"/>
              <a:t>Teacher Feedback</a:t>
            </a:r>
            <a:br>
              <a:rPr lang="en-IN" dirty="0"/>
            </a:br>
            <a:r>
              <a:rPr lang="en-IN" dirty="0" err="1"/>
              <a:t>Behavioral</a:t>
            </a:r>
            <a:r>
              <a:rPr lang="en-IN" dirty="0"/>
              <a:t> Observation</a:t>
            </a:r>
          </a:p>
          <a:p>
            <a:pPr rtl="0">
              <a:buNone/>
            </a:pPr>
            <a:endParaRPr lang="en-IN" dirty="0"/>
          </a:p>
          <a:p>
            <a:pPr>
              <a:buNone/>
            </a:pPr>
            <a:r>
              <a:rPr lang="en-IN" dirty="0"/>
              <a:t>Two doctors may not always agree.</a:t>
            </a:r>
          </a:p>
          <a:p>
            <a:pPr>
              <a:buNone/>
            </a:pPr>
            <a:r>
              <a:rPr lang="en-IN" dirty="0"/>
              <a:t>Parents may describe symptoms differently.</a:t>
            </a:r>
          </a:p>
          <a:p>
            <a:pPr>
              <a:buNone/>
            </a:pPr>
            <a:r>
              <a:rPr lang="en-IN" dirty="0"/>
              <a:t>Teachers may observe different behaviors.</a:t>
            </a:r>
          </a:p>
          <a:p>
            <a:pPr>
              <a:buNone/>
            </a:pPr>
            <a:endParaRPr lang="en-IN" dirty="0"/>
          </a:p>
          <a:p>
            <a:pPr>
              <a:buNone/>
            </a:pPr>
            <a:r>
              <a:rPr lang="en-IN" b="1" dirty="0"/>
              <a:t>This can lead to:</a:t>
            </a:r>
          </a:p>
          <a:p>
            <a:pPr rtl="0">
              <a:buNone/>
            </a:pPr>
            <a:r>
              <a:rPr lang="en-IN" dirty="0"/>
              <a:t>Delayed Diagnosis</a:t>
            </a:r>
            <a:br>
              <a:rPr lang="en-IN" dirty="0"/>
            </a:br>
            <a:r>
              <a:rPr lang="en-IN" dirty="0"/>
              <a:t>Misdiagnosis</a:t>
            </a:r>
            <a:br>
              <a:rPr lang="en-IN" dirty="0"/>
            </a:br>
            <a:r>
              <a:rPr lang="en-IN" dirty="0"/>
              <a:t>Late Treatment</a:t>
            </a:r>
          </a:p>
        </p:txBody>
      </p:sp>
    </p:spTree>
    <p:extLst>
      <p:ext uri="{BB962C8B-B14F-4D97-AF65-F5344CB8AC3E}">
        <p14:creationId xmlns:p14="http://schemas.microsoft.com/office/powerpoint/2010/main" val="3952328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BFCCB9-DE90-C3D1-2C89-6CB386E56A53}"/>
              </a:ext>
            </a:extLst>
          </p:cNvPr>
          <p:cNvPicPr>
            <a:picLocks noChangeAspect="1"/>
          </p:cNvPicPr>
          <p:nvPr/>
        </p:nvPicPr>
        <p:blipFill>
          <a:blip r:embed="rId2"/>
          <a:stretch>
            <a:fillRect/>
          </a:stretch>
        </p:blipFill>
        <p:spPr>
          <a:xfrm>
            <a:off x="1599942" y="396051"/>
            <a:ext cx="5944115" cy="4351397"/>
          </a:xfrm>
          <a:prstGeom prst="rect">
            <a:avLst/>
          </a:prstGeom>
        </p:spPr>
      </p:pic>
    </p:spTree>
    <p:extLst>
      <p:ext uri="{BB962C8B-B14F-4D97-AF65-F5344CB8AC3E}">
        <p14:creationId xmlns:p14="http://schemas.microsoft.com/office/powerpoint/2010/main" val="2955629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693159-7A9E-B3F4-E0E8-DAC2720AB573}"/>
              </a:ext>
            </a:extLst>
          </p:cNvPr>
          <p:cNvSpPr txBox="1"/>
          <p:nvPr/>
        </p:nvSpPr>
        <p:spPr>
          <a:xfrm>
            <a:off x="805543" y="548758"/>
            <a:ext cx="7039428" cy="4278094"/>
          </a:xfrm>
          <a:prstGeom prst="rect">
            <a:avLst/>
          </a:prstGeom>
          <a:noFill/>
        </p:spPr>
        <p:txBody>
          <a:bodyPr wrap="square">
            <a:spAutoFit/>
          </a:bodyPr>
          <a:lstStyle/>
          <a:p>
            <a:pPr>
              <a:buNone/>
            </a:pPr>
            <a:r>
              <a:rPr lang="en-IN" sz="1600" b="1" dirty="0"/>
              <a:t>Spatial Features(</a:t>
            </a:r>
            <a:r>
              <a:rPr lang="en-IN" sz="1600" dirty="0"/>
              <a:t>Which brain regions activate together?</a:t>
            </a:r>
            <a:endParaRPr lang="en-IN" sz="1600" b="1" dirty="0"/>
          </a:p>
          <a:p>
            <a:pPr algn="just">
              <a:buNone/>
            </a:pPr>
            <a:r>
              <a:rPr lang="en-IN" sz="1600" dirty="0"/>
              <a:t>Spatial features represent relationships between different EEG channels or brain regions at the same point in time.</a:t>
            </a:r>
          </a:p>
          <a:p>
            <a:pPr algn="just">
              <a:buNone/>
            </a:pPr>
            <a:endParaRPr lang="en-IN" sz="1600" dirty="0"/>
          </a:p>
          <a:p>
            <a:pPr>
              <a:buNone/>
            </a:pPr>
            <a:r>
              <a:rPr lang="en-IN" sz="1600" b="1" dirty="0"/>
              <a:t>Temporal Features (</a:t>
            </a:r>
            <a:r>
              <a:rPr lang="en-IN" sz="1600" dirty="0"/>
              <a:t>How brain activity changes over time?</a:t>
            </a:r>
            <a:endParaRPr lang="en-IN" sz="1600" b="1" dirty="0"/>
          </a:p>
          <a:p>
            <a:pPr algn="just">
              <a:buNone/>
            </a:pPr>
            <a:r>
              <a:rPr lang="en-IN" sz="1600" dirty="0"/>
              <a:t>Temporal features represent how EEG signals evolve and change over time, capturing dynamic brain activity patterns.</a:t>
            </a:r>
          </a:p>
          <a:p>
            <a:pPr algn="just">
              <a:buNone/>
            </a:pPr>
            <a:endParaRPr lang="en-IN" sz="1600" b="1" dirty="0"/>
          </a:p>
          <a:p>
            <a:pPr algn="just">
              <a:buNone/>
            </a:pPr>
            <a:r>
              <a:rPr lang="en-IN" sz="1600" b="1" dirty="0"/>
              <a:t>CNN</a:t>
            </a:r>
          </a:p>
          <a:p>
            <a:pPr algn="just">
              <a:buNone/>
            </a:pPr>
            <a:r>
              <a:rPr lang="en-IN" sz="1600" dirty="0"/>
              <a:t>Learns spatial relationships among EEG channels.</a:t>
            </a:r>
          </a:p>
          <a:p>
            <a:pPr algn="just">
              <a:buNone/>
            </a:pPr>
            <a:endParaRPr lang="en-IN" sz="1600" dirty="0"/>
          </a:p>
          <a:p>
            <a:pPr algn="just">
              <a:buNone/>
            </a:pPr>
            <a:r>
              <a:rPr lang="en-IN" sz="1600" b="1" dirty="0"/>
              <a:t>LSTM</a:t>
            </a:r>
          </a:p>
          <a:p>
            <a:pPr algn="just">
              <a:buNone/>
            </a:pPr>
            <a:r>
              <a:rPr lang="en-IN" sz="1600" dirty="0"/>
              <a:t>Learns temporal dependencies and brain-state transitions over time.</a:t>
            </a:r>
          </a:p>
          <a:p>
            <a:pPr algn="just">
              <a:buNone/>
            </a:pPr>
            <a:endParaRPr lang="en-IN" sz="1600" dirty="0"/>
          </a:p>
          <a:p>
            <a:pPr algn="just">
              <a:buNone/>
            </a:pPr>
            <a:r>
              <a:rPr lang="en-IN" sz="1600" b="1" dirty="0"/>
              <a:t>CNN-LSTM</a:t>
            </a:r>
          </a:p>
          <a:p>
            <a:pPr algn="just">
              <a:buNone/>
            </a:pPr>
            <a:r>
              <a:rPr lang="en-IN" sz="1600" dirty="0"/>
              <a:t>Combines spatial and temporal learning to capture both where and how brain activity changes.</a:t>
            </a:r>
          </a:p>
        </p:txBody>
      </p:sp>
    </p:spTree>
    <p:extLst>
      <p:ext uri="{BB962C8B-B14F-4D97-AF65-F5344CB8AC3E}">
        <p14:creationId xmlns:p14="http://schemas.microsoft.com/office/powerpoint/2010/main" val="1299235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2299</Words>
  <Application>Microsoft Office PowerPoint</Application>
  <PresentationFormat>On-screen Show (16:9)</PresentationFormat>
  <Paragraphs>240</Paragraphs>
  <Slides>20</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Inter</vt:lpstr>
      <vt:lpstr>Inter Bold</vt:lpstr>
      <vt:lpstr>Inter ExtraBold</vt:lpstr>
      <vt:lpstr>Montserrat ExtraBold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Deepika Mallampati</cp:lastModifiedBy>
  <cp:revision>4</cp:revision>
  <dcterms:created xsi:type="dcterms:W3CDTF">2026-06-16T04:27:12Z</dcterms:created>
  <dcterms:modified xsi:type="dcterms:W3CDTF">2026-06-17T07:01:30Z</dcterms:modified>
</cp:coreProperties>
</file>